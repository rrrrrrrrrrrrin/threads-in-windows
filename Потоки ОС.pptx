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sldIdLst>
    <p:sldId id="265" r:id="rId2"/>
    <p:sldId id="257" r:id="rId3"/>
    <p:sldId id="274" r:id="rId4"/>
    <p:sldId id="273" r:id="rId5"/>
    <p:sldId id="277" r:id="rId6"/>
    <p:sldId id="284" r:id="rId7"/>
    <p:sldId id="267" r:id="rId8"/>
    <p:sldId id="268" r:id="rId9"/>
    <p:sldId id="271" r:id="rId10"/>
    <p:sldId id="280" r:id="rId11"/>
    <p:sldId id="259" r:id="rId12"/>
    <p:sldId id="260" r:id="rId13"/>
    <p:sldId id="281" r:id="rId14"/>
    <p:sldId id="283" r:id="rId15"/>
    <p:sldId id="278" r:id="rId16"/>
    <p:sldId id="261" r:id="rId17"/>
    <p:sldId id="275" r:id="rId18"/>
    <p:sldId id="285" r:id="rId19"/>
    <p:sldId id="286" r:id="rId20"/>
    <p:sldId id="287" r:id="rId21"/>
    <p:sldId id="288" r:id="rId22"/>
    <p:sldId id="289" r:id="rId23"/>
    <p:sldId id="290" r:id="rId24"/>
    <p:sldId id="276" r:id="rId25"/>
    <p:sldId id="262" r:id="rId26"/>
    <p:sldId id="270" r:id="rId27"/>
    <p:sldId id="263" r:id="rId28"/>
    <p:sldId id="27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C05404-E6AE-5C7E-7D02-1C72D65418F2}" v="83" dt="2025-11-11T19:53:44.707"/>
    <p1510:client id="{B83419E4-94EF-4E90-FE08-C876ADF4D338}" v="556" dt="2025-11-10T17:35:17.6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48517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3177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9571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66801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3481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73038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9199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12628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29382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5658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7437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48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CF4F5-EB99-3271-E917-BDB8B5FB8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996795" cy="1588995"/>
          </a:xfrm>
        </p:spPr>
        <p:txBody>
          <a:bodyPr>
            <a:normAutofit/>
          </a:bodyPr>
          <a:lstStyle/>
          <a:p>
            <a:r>
              <a:rPr lang="en-US" sz="6600" b="1" err="1"/>
              <a:t>Потоки</a:t>
            </a:r>
            <a:endParaRPr lang="en-US" sz="66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6F4D7-FA79-7AA7-4664-EAEA17886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5916" y="2343677"/>
            <a:ext cx="6172200" cy="487362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err="1"/>
              <a:t>создание</a:t>
            </a:r>
            <a:r>
              <a:rPr lang="en-US" sz="2400"/>
              <a:t> </a:t>
            </a:r>
            <a:r>
              <a:rPr lang="en-US" sz="2400" err="1"/>
              <a:t>потока</a:t>
            </a:r>
            <a:endParaRPr lang="en-US" err="1"/>
          </a:p>
          <a:p>
            <a:r>
              <a:rPr lang="en-US" sz="2400" err="1"/>
              <a:t>информация</a:t>
            </a:r>
            <a:r>
              <a:rPr lang="en-US" sz="2400"/>
              <a:t> о </a:t>
            </a:r>
            <a:r>
              <a:rPr lang="en-US" sz="2400" err="1"/>
              <a:t>потоке</a:t>
            </a:r>
            <a:endParaRPr lang="en-US" err="1"/>
          </a:p>
          <a:p>
            <a:r>
              <a:rPr lang="en-US" sz="2400" err="1"/>
              <a:t>завершение</a:t>
            </a:r>
            <a:r>
              <a:rPr lang="en-US" sz="2400"/>
              <a:t> </a:t>
            </a:r>
            <a:r>
              <a:rPr lang="en-US" sz="2400" err="1"/>
              <a:t>потока</a:t>
            </a:r>
            <a:endParaRPr lang="en-US" sz="2400"/>
          </a:p>
          <a:p>
            <a:r>
              <a:rPr lang="en-US" sz="2400" err="1"/>
              <a:t>ожидание</a:t>
            </a:r>
            <a:r>
              <a:rPr lang="en-US" sz="2400"/>
              <a:t> </a:t>
            </a:r>
            <a:r>
              <a:rPr lang="en-US" sz="2400" err="1"/>
              <a:t>завершения</a:t>
            </a:r>
            <a:r>
              <a:rPr lang="en-US" sz="2400"/>
              <a:t> </a:t>
            </a:r>
            <a:r>
              <a:rPr lang="en-US" sz="2400" err="1"/>
              <a:t>потока</a:t>
            </a:r>
            <a:endParaRPr lang="en-US" sz="2400"/>
          </a:p>
          <a:p>
            <a:r>
              <a:rPr lang="en-US" sz="2400" err="1"/>
              <a:t>передача</a:t>
            </a:r>
            <a:r>
              <a:rPr lang="en-US" sz="2400"/>
              <a:t> </a:t>
            </a:r>
            <a:r>
              <a:rPr lang="en-US" sz="2400" err="1"/>
              <a:t>управления</a:t>
            </a:r>
            <a:r>
              <a:rPr lang="en-US" sz="2400"/>
              <a:t> </a:t>
            </a:r>
            <a:r>
              <a:rPr lang="en-US" sz="2400" err="1"/>
              <a:t>планировщику</a:t>
            </a:r>
            <a:endParaRPr lang="en-US" sz="2400"/>
          </a:p>
          <a:p>
            <a:r>
              <a:rPr lang="en-US" sz="2400" err="1"/>
              <a:t>использование</a:t>
            </a:r>
            <a:r>
              <a:rPr lang="en-US" sz="2400"/>
              <a:t> </a:t>
            </a:r>
            <a:r>
              <a:rPr lang="en-US" sz="2400" err="1"/>
              <a:t>общего</a:t>
            </a:r>
            <a:r>
              <a:rPr lang="en-US" sz="2400"/>
              <a:t> </a:t>
            </a:r>
            <a:r>
              <a:rPr lang="en-US" sz="2400" err="1"/>
              <a:t>адресного</a:t>
            </a:r>
            <a:r>
              <a:rPr lang="en-US" sz="2400"/>
              <a:t> </a:t>
            </a:r>
            <a:r>
              <a:rPr lang="en-US" sz="2400" err="1"/>
              <a:t>пространства</a:t>
            </a:r>
            <a:endParaRPr lang="en-US" err="1"/>
          </a:p>
          <a:p>
            <a:r>
              <a:rPr lang="en-US" sz="2400"/>
              <a:t>thread affinity (</a:t>
            </a:r>
            <a:r>
              <a:rPr lang="en-US" sz="2400" err="1"/>
              <a:t>привязка</a:t>
            </a:r>
            <a:r>
              <a:rPr lang="en-US" sz="2400"/>
              <a:t> к </a:t>
            </a:r>
            <a:r>
              <a:rPr lang="en-US" sz="2400" err="1"/>
              <a:t>потоку</a:t>
            </a:r>
            <a:r>
              <a:rPr lang="en-US" sz="2400"/>
              <a:t>)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C9DAB-4E40-1B46-BD39-1ED2C3B96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15135"/>
            <a:ext cx="3170237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err="1"/>
              <a:t>На</a:t>
            </a:r>
            <a:r>
              <a:rPr lang="en-US" sz="2400"/>
              <a:t> </a:t>
            </a:r>
            <a:r>
              <a:rPr lang="en-US" sz="2400" err="1"/>
              <a:t>примере</a:t>
            </a:r>
            <a:r>
              <a:rPr lang="en-US" sz="2400"/>
              <a:t> ОС 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 sz="2400" err="1"/>
              <a:t>семейства</a:t>
            </a:r>
            <a:r>
              <a:rPr lang="en-US" sz="2400"/>
              <a:t> Windows </a:t>
            </a:r>
            <a:endParaRPr lang="en-US"/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CFCC6-8B8E-7439-C8C7-A00BDDD031EA}"/>
              </a:ext>
            </a:extLst>
          </p:cNvPr>
          <p:cNvSpPr txBox="1"/>
          <p:nvPr/>
        </p:nvSpPr>
        <p:spPr>
          <a:xfrm>
            <a:off x="5690552" y="1423487"/>
            <a:ext cx="2319618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err="1"/>
              <a:t>Темы</a:t>
            </a:r>
            <a:r>
              <a:rPr lang="en-US" sz="4000"/>
              <a:t> </a:t>
            </a:r>
          </a:p>
          <a:p>
            <a:pPr algn="ctr"/>
            <a:endParaRPr lang="en-US" sz="3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2C2853-B55B-3DB9-00ED-87387BA6826B}"/>
              </a:ext>
            </a:extLst>
          </p:cNvPr>
          <p:cNvSpPr txBox="1"/>
          <p:nvPr/>
        </p:nvSpPr>
        <p:spPr>
          <a:xfrm>
            <a:off x="840441" y="6006353"/>
            <a:ext cx="60960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/>
              <a:t>Бердиева</a:t>
            </a:r>
            <a:r>
              <a:rPr lang="en-US" sz="2400"/>
              <a:t> </a:t>
            </a:r>
            <a:r>
              <a:rPr lang="en-US" sz="2400" err="1"/>
              <a:t>Арина</a:t>
            </a:r>
            <a:r>
              <a:rPr lang="en-US" sz="2400"/>
              <a:t> Б-11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5DDBE-8E9C-AB56-A247-88A8EBD5F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98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10D0-F4EC-6FC0-5FB9-5D0E4A48E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Поток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ACC4E-81F3-9A65-7D7F-15BE71591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В </a:t>
            </a:r>
            <a:r>
              <a:rPr lang="en-US" err="1">
                <a:ea typeface="+mn-lt"/>
                <a:cs typeface="+mn-lt"/>
              </a:rPr>
              <a:t>традиционных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операционных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системах</a:t>
            </a:r>
            <a:r>
              <a:rPr lang="en-US">
                <a:ea typeface="+mn-lt"/>
                <a:cs typeface="+mn-lt"/>
              </a:rPr>
              <a:t> у </a:t>
            </a:r>
            <a:r>
              <a:rPr lang="en-US" err="1">
                <a:ea typeface="+mn-lt"/>
                <a:cs typeface="+mn-lt"/>
              </a:rPr>
              <a:t>каждого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соответственого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традиционного</a:t>
            </a:r>
            <a:r>
              <a:rPr lang="en-US">
                <a:ea typeface="+mn-lt"/>
                <a:cs typeface="+mn-lt"/>
              </a:rPr>
              <a:t>) </a:t>
            </a:r>
            <a:r>
              <a:rPr lang="en-US" err="1">
                <a:ea typeface="+mn-lt"/>
                <a:cs typeface="+mn-lt"/>
              </a:rPr>
              <a:t>процесса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есть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адресное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пространство</a:t>
            </a:r>
            <a:r>
              <a:rPr lang="en-US">
                <a:ea typeface="+mn-lt"/>
                <a:cs typeface="+mn-lt"/>
              </a:rPr>
              <a:t> и </a:t>
            </a:r>
            <a:r>
              <a:rPr lang="en-US" err="1">
                <a:ea typeface="+mn-lt"/>
                <a:cs typeface="+mn-lt"/>
              </a:rPr>
              <a:t>единственный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поток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управления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r>
              <a:rPr lang="en-US" err="1">
                <a:ea typeface="+mn-lt"/>
                <a:cs typeface="+mn-lt"/>
              </a:rPr>
              <a:t>Тем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менее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нередко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возникают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ситуации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когда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неплохо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было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бы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иметь</a:t>
            </a:r>
            <a:r>
              <a:rPr lang="en-US">
                <a:ea typeface="+mn-lt"/>
                <a:cs typeface="+mn-lt"/>
              </a:rPr>
              <a:t> в </a:t>
            </a:r>
            <a:r>
              <a:rPr lang="en-US" err="1">
                <a:ea typeface="+mn-lt"/>
                <a:cs typeface="+mn-lt"/>
              </a:rPr>
              <a:t>одном</a:t>
            </a:r>
            <a:r>
              <a:rPr lang="en-US">
                <a:ea typeface="+mn-lt"/>
                <a:cs typeface="+mn-lt"/>
              </a:rPr>
              <a:t> и </a:t>
            </a:r>
            <a:r>
              <a:rPr lang="en-US" err="1">
                <a:ea typeface="+mn-lt"/>
                <a:cs typeface="+mn-lt"/>
              </a:rPr>
              <a:t>том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же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адресном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пространстве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несколько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потоков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управления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выполняемых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квазипараллельно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как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будто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они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являются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обособленными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процессами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за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исключением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общего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адресного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пространства</a:t>
            </a:r>
            <a:r>
              <a:rPr lang="en-US">
                <a:ea typeface="+mn-lt"/>
                <a:cs typeface="+mn-lt"/>
              </a:rPr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E2223-3A62-2FA3-B3B9-4FCD48F6C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714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Многопоточность | Состояния потоков | Java программирование">
            <a:extLst>
              <a:ext uri="{FF2B5EF4-FFF2-40B4-BE49-F238E27FC236}">
                <a16:creationId xmlns:a16="http://schemas.microsoft.com/office/drawing/2014/main" id="{C621D0E9-9DA1-ED60-DB60-93960D415D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9237" y="3615719"/>
            <a:ext cx="6705815" cy="31063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5425CF-3DD1-87FF-CB15-B770C658DAA6}"/>
              </a:ext>
            </a:extLst>
          </p:cNvPr>
          <p:cNvSpPr txBox="1"/>
          <p:nvPr/>
        </p:nvSpPr>
        <p:spPr>
          <a:xfrm>
            <a:off x="614516" y="430161"/>
            <a:ext cx="1138083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2400" baseline="0" err="1">
                <a:latin typeface="Aptos"/>
                <a:ea typeface="Arial"/>
                <a:cs typeface="Arial"/>
              </a:rPr>
              <a:t>Подобно</a:t>
            </a:r>
            <a:r>
              <a:rPr lang="en-US" sz="2400" baseline="0">
                <a:latin typeface="Aptos"/>
                <a:ea typeface="Arial"/>
                <a:cs typeface="Arial"/>
              </a:rPr>
              <a:t> </a:t>
            </a:r>
            <a:r>
              <a:rPr lang="en-US" sz="2400" baseline="0" err="1">
                <a:latin typeface="Aptos"/>
                <a:ea typeface="Arial"/>
                <a:cs typeface="Arial"/>
              </a:rPr>
              <a:t>традиционному</a:t>
            </a:r>
            <a:r>
              <a:rPr lang="en-US" sz="2400" baseline="0">
                <a:latin typeface="Aptos"/>
                <a:ea typeface="Arial"/>
                <a:cs typeface="Arial"/>
              </a:rPr>
              <a:t> </a:t>
            </a:r>
            <a:r>
              <a:rPr lang="en-US" sz="2400" baseline="0" err="1">
                <a:latin typeface="Aptos"/>
                <a:ea typeface="Arial"/>
                <a:cs typeface="Arial"/>
              </a:rPr>
              <a:t>процессу</a:t>
            </a:r>
            <a:r>
              <a:rPr lang="en-US" sz="2400" baseline="0">
                <a:latin typeface="Aptos"/>
                <a:ea typeface="Arial"/>
                <a:cs typeface="Arial"/>
              </a:rPr>
              <a:t> </a:t>
            </a:r>
            <a:r>
              <a:rPr lang="en-US" sz="2400" baseline="0" err="1">
                <a:latin typeface="Aptos"/>
                <a:ea typeface="Arial"/>
                <a:cs typeface="Arial"/>
              </a:rPr>
              <a:t>поток</a:t>
            </a:r>
            <a:r>
              <a:rPr lang="en-US" sz="2400" baseline="0">
                <a:latin typeface="Aptos"/>
                <a:ea typeface="Arial"/>
                <a:cs typeface="Arial"/>
              </a:rPr>
              <a:t> </a:t>
            </a:r>
            <a:r>
              <a:rPr lang="en-US" sz="2400" baseline="0" err="1">
                <a:latin typeface="Aptos"/>
                <a:ea typeface="Arial"/>
                <a:cs typeface="Arial"/>
              </a:rPr>
              <a:t>должен</a:t>
            </a:r>
            <a:r>
              <a:rPr lang="en-US" sz="2400" baseline="0">
                <a:latin typeface="Aptos"/>
                <a:ea typeface="Arial"/>
                <a:cs typeface="Arial"/>
              </a:rPr>
              <a:t> </a:t>
            </a:r>
            <a:r>
              <a:rPr lang="en-US" sz="2400" baseline="0" err="1">
                <a:latin typeface="Aptos"/>
                <a:ea typeface="Arial"/>
                <a:cs typeface="Arial"/>
              </a:rPr>
              <a:t>быть</a:t>
            </a:r>
            <a:r>
              <a:rPr lang="en-US" sz="2400" baseline="0">
                <a:latin typeface="Aptos"/>
                <a:ea typeface="Arial"/>
                <a:cs typeface="Arial"/>
              </a:rPr>
              <a:t> </a:t>
            </a:r>
            <a:r>
              <a:rPr lang="en-US" sz="2400" baseline="0" err="1">
                <a:latin typeface="Aptos"/>
                <a:ea typeface="Arial"/>
                <a:cs typeface="Arial"/>
              </a:rPr>
              <a:t>водном</a:t>
            </a:r>
            <a:r>
              <a:rPr lang="en-US" sz="2400" baseline="0">
                <a:latin typeface="Aptos"/>
                <a:ea typeface="Arial"/>
                <a:cs typeface="Arial"/>
              </a:rPr>
              <a:t> </a:t>
            </a:r>
            <a:r>
              <a:rPr lang="en-US" sz="2400" baseline="0" err="1">
                <a:latin typeface="Aptos"/>
                <a:ea typeface="Arial"/>
                <a:cs typeface="Arial"/>
              </a:rPr>
              <a:t>из</a:t>
            </a:r>
            <a:r>
              <a:rPr lang="en-US" sz="2400" baseline="0">
                <a:latin typeface="Aptos"/>
                <a:ea typeface="Arial"/>
                <a:cs typeface="Arial"/>
              </a:rPr>
              <a:t> </a:t>
            </a:r>
            <a:r>
              <a:rPr lang="en-US" sz="2400" baseline="0" err="1">
                <a:latin typeface="Aptos"/>
                <a:ea typeface="Arial"/>
                <a:cs typeface="Arial"/>
              </a:rPr>
              <a:t>следующих</a:t>
            </a:r>
            <a:r>
              <a:rPr lang="en-US" sz="2400" baseline="0">
                <a:latin typeface="Aptos"/>
                <a:ea typeface="Arial"/>
                <a:cs typeface="Arial"/>
              </a:rPr>
              <a:t> </a:t>
            </a:r>
            <a:r>
              <a:rPr lang="en-US" sz="2400" baseline="0" err="1">
                <a:latin typeface="Aptos"/>
                <a:ea typeface="Arial"/>
                <a:cs typeface="Arial"/>
              </a:rPr>
              <a:t>состояний</a:t>
            </a:r>
            <a:r>
              <a:rPr lang="en-US" sz="2400" baseline="0">
                <a:latin typeface="Aptos"/>
                <a:ea typeface="Arial"/>
                <a:cs typeface="Arial"/>
              </a:rPr>
              <a:t>: </a:t>
            </a:r>
            <a:r>
              <a:rPr lang="en-US" sz="2400" baseline="0" err="1">
                <a:latin typeface="Aptos"/>
                <a:ea typeface="Arial"/>
                <a:cs typeface="Arial"/>
              </a:rPr>
              <a:t>создание</a:t>
            </a:r>
            <a:r>
              <a:rPr lang="en-US" sz="2400" baseline="0">
                <a:latin typeface="Aptos"/>
                <a:ea typeface="Arial"/>
                <a:cs typeface="Arial"/>
              </a:rPr>
              <a:t>, </a:t>
            </a:r>
            <a:r>
              <a:rPr lang="en-US" sz="2400" baseline="0" err="1">
                <a:latin typeface="Aptos"/>
                <a:ea typeface="Arial"/>
                <a:cs typeface="Arial"/>
              </a:rPr>
              <a:t>выполнение</a:t>
            </a:r>
            <a:r>
              <a:rPr lang="en-US" sz="2400" baseline="0">
                <a:latin typeface="Aptos"/>
                <a:ea typeface="Arial"/>
                <a:cs typeface="Arial"/>
              </a:rPr>
              <a:t>, </a:t>
            </a:r>
            <a:r>
              <a:rPr lang="en-US" sz="2400" baseline="0" err="1">
                <a:latin typeface="Aptos"/>
                <a:ea typeface="Arial"/>
                <a:cs typeface="Arial"/>
              </a:rPr>
              <a:t>ожидание</a:t>
            </a:r>
            <a:r>
              <a:rPr lang="en-US" sz="2400">
                <a:latin typeface="Aptos"/>
                <a:ea typeface="Arial"/>
                <a:cs typeface="Arial"/>
              </a:rPr>
              <a:t> </a:t>
            </a:r>
            <a:r>
              <a:rPr lang="en-US" sz="2400" baseline="0">
                <a:latin typeface="Aptos"/>
                <a:ea typeface="Arial"/>
                <a:cs typeface="Arial"/>
              </a:rPr>
              <a:t>(</a:t>
            </a:r>
            <a:r>
              <a:rPr lang="en-US" sz="2400" baseline="0" err="1">
                <a:latin typeface="Aptos"/>
                <a:ea typeface="Arial"/>
                <a:cs typeface="Arial"/>
              </a:rPr>
              <a:t>блокировка</a:t>
            </a:r>
            <a:r>
              <a:rPr lang="en-US" sz="2400" baseline="0">
                <a:latin typeface="Aptos"/>
                <a:ea typeface="Arial"/>
                <a:cs typeface="Arial"/>
              </a:rPr>
              <a:t>), </a:t>
            </a:r>
            <a:r>
              <a:rPr lang="en-US" sz="2400" baseline="0" err="1">
                <a:latin typeface="Aptos"/>
                <a:ea typeface="Arial"/>
                <a:cs typeface="Arial"/>
              </a:rPr>
              <a:t>готовность</a:t>
            </a:r>
            <a:r>
              <a:rPr lang="en-US" sz="2400" baseline="0">
                <a:latin typeface="Aptos"/>
                <a:ea typeface="Arial"/>
                <a:cs typeface="Arial"/>
              </a:rPr>
              <a:t> </a:t>
            </a:r>
            <a:r>
              <a:rPr lang="en-US" sz="2400" baseline="0" err="1">
                <a:latin typeface="Aptos"/>
                <a:ea typeface="Arial"/>
                <a:cs typeface="Arial"/>
              </a:rPr>
              <a:t>или</a:t>
            </a:r>
            <a:r>
              <a:rPr lang="en-US" sz="2400" baseline="0">
                <a:latin typeface="Aptos"/>
                <a:ea typeface="Arial"/>
                <a:cs typeface="Arial"/>
              </a:rPr>
              <a:t> </a:t>
            </a:r>
            <a:r>
              <a:rPr lang="en-US" sz="2400" baseline="0" err="1">
                <a:latin typeface="Aptos"/>
                <a:ea typeface="Arial"/>
                <a:cs typeface="Arial"/>
              </a:rPr>
              <a:t>завершение</a:t>
            </a:r>
            <a:r>
              <a:rPr lang="en-US" sz="2400" baseline="0">
                <a:latin typeface="Aptos"/>
                <a:ea typeface="Arial"/>
                <a:cs typeface="Arial"/>
              </a:rPr>
              <a:t>.</a:t>
            </a:r>
            <a:endParaRPr lang="en-US" sz="2400"/>
          </a:p>
          <a:p>
            <a:pPr marL="457200" indent="-457200">
              <a:buFont typeface="Arial"/>
              <a:buChar char="•"/>
            </a:pPr>
            <a:endParaRPr lang="en-US" sz="2400"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400" err="1">
                <a:cs typeface="Arial"/>
              </a:rPr>
              <a:t>Средства</a:t>
            </a:r>
            <a:r>
              <a:rPr lang="en-US" sz="2400">
                <a:cs typeface="Arial"/>
              </a:rPr>
              <a:t> </a:t>
            </a:r>
            <a:r>
              <a:rPr lang="en-US" sz="2400" err="1">
                <a:cs typeface="Arial"/>
              </a:rPr>
              <a:t>создания</a:t>
            </a:r>
            <a:r>
              <a:rPr lang="en-US" sz="2400">
                <a:cs typeface="Arial"/>
              </a:rPr>
              <a:t> и </a:t>
            </a:r>
            <a:r>
              <a:rPr lang="en-US" sz="2400" err="1">
                <a:cs typeface="Arial"/>
              </a:rPr>
              <a:t>завершения</a:t>
            </a:r>
            <a:r>
              <a:rPr lang="en-US" sz="2400">
                <a:cs typeface="Arial"/>
              </a:rPr>
              <a:t> </a:t>
            </a:r>
            <a:r>
              <a:rPr lang="en-US" sz="2400" err="1">
                <a:cs typeface="Arial"/>
              </a:rPr>
              <a:t>потоков</a:t>
            </a:r>
            <a:r>
              <a:rPr lang="en-US" sz="2400">
                <a:cs typeface="Arial"/>
              </a:rPr>
              <a:t> </a:t>
            </a:r>
            <a:r>
              <a:rPr lang="en-US" sz="2400" err="1">
                <a:cs typeface="Arial"/>
              </a:rPr>
              <a:t>являются</a:t>
            </a:r>
            <a:r>
              <a:rPr lang="en-US" sz="2400">
                <a:cs typeface="Arial"/>
              </a:rPr>
              <a:t> </a:t>
            </a:r>
            <a:r>
              <a:rPr lang="en-US" sz="2400" err="1">
                <a:cs typeface="Arial"/>
              </a:rPr>
              <a:t>основой</a:t>
            </a:r>
            <a:r>
              <a:rPr lang="en-US" sz="2400">
                <a:cs typeface="Arial"/>
              </a:rPr>
              <a:t> </a:t>
            </a:r>
            <a:r>
              <a:rPr lang="en-US" sz="2400" err="1">
                <a:cs typeface="Arial"/>
              </a:rPr>
              <a:t>для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создания</a:t>
            </a:r>
            <a:r>
              <a:rPr lang="en-US" sz="2400">
                <a:cs typeface="Arial"/>
              </a:rPr>
              <a:t> </a:t>
            </a:r>
            <a:r>
              <a:rPr lang="en-US" sz="2400" err="1">
                <a:cs typeface="Arial"/>
              </a:rPr>
              <a:t>многотопоточных</a:t>
            </a:r>
            <a:r>
              <a:rPr lang="en-US" sz="2400">
                <a:cs typeface="Arial"/>
              </a:rPr>
              <a:t> </a:t>
            </a:r>
            <a:r>
              <a:rPr lang="en-US" sz="2400" err="1">
                <a:cs typeface="Arial"/>
              </a:rPr>
              <a:t>программ</a:t>
            </a:r>
            <a:r>
              <a:rPr lang="en-US" sz="2400">
                <a:cs typeface="Arial"/>
              </a:rPr>
              <a:t>.</a:t>
            </a:r>
          </a:p>
          <a:p>
            <a:pPr marL="457200" indent="-457200">
              <a:buFont typeface="Arial"/>
              <a:buChar char="•"/>
            </a:pPr>
            <a:endParaRPr lang="en-US" sz="2400"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en-US" sz="2400" err="1">
                <a:cs typeface="Arial"/>
              </a:rPr>
              <a:t>Возможные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переходы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между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состояниями</a:t>
            </a:r>
            <a:r>
              <a:rPr lang="en-US" sz="2400">
                <a:cs typeface="Arial"/>
              </a:rPr>
              <a:t> </a:t>
            </a:r>
            <a:r>
              <a:rPr lang="en-US" sz="2400" err="1">
                <a:cs typeface="Arial"/>
              </a:rPr>
              <a:t>потока</a:t>
            </a:r>
            <a:r>
              <a:rPr lang="en-US" sz="2400">
                <a:cs typeface="Arial"/>
              </a:rPr>
              <a:t>:</a:t>
            </a:r>
          </a:p>
          <a:p>
            <a:pPr algn="ctr"/>
            <a:endParaRPr lang="en-US" sz="2400">
              <a:cs typeface="Arial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EE84D57-CB69-FC4E-1D9F-5345DD90E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380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52E31-92DE-804B-1C8C-E8863F68A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Создание</a:t>
            </a:r>
            <a:r>
              <a:rPr lang="en-US"/>
              <a:t> </a:t>
            </a:r>
            <a:r>
              <a:rPr lang="en-US" err="1"/>
              <a:t>потока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2DF84-B7AD-28DA-28C4-11CA9EDFF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rPr lang="en-US" sz="2400" err="1">
                <a:latin typeface="Aptos"/>
                <a:cs typeface="Arial"/>
              </a:rPr>
              <a:t>Процедура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создания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потоков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имеет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свои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особенности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связанные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прежде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всего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из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тем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что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создают</a:t>
            </a:r>
            <a:r>
              <a:rPr lang="en-US" sz="2400">
                <a:latin typeface="Aptos"/>
                <a:cs typeface="Arial"/>
              </a:rPr>
              <a:t> в </a:t>
            </a:r>
            <a:r>
              <a:rPr lang="en-US" sz="2400" err="1">
                <a:latin typeface="Aptos"/>
                <a:cs typeface="Arial"/>
              </a:rPr>
              <a:t>рамках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уже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существующего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адресного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пространства</a:t>
            </a:r>
            <a:r>
              <a:rPr lang="en-US" sz="2400">
                <a:latin typeface="Aptos"/>
                <a:cs typeface="Arial"/>
              </a:rPr>
              <a:t> (</a:t>
            </a:r>
            <a:r>
              <a:rPr lang="en-US" sz="2400" err="1">
                <a:latin typeface="Aptos"/>
                <a:cs typeface="Arial"/>
              </a:rPr>
              <a:t>конкретного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процесса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или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возможно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ядра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системы</a:t>
            </a:r>
            <a:r>
              <a:rPr lang="en-US" sz="2400">
                <a:latin typeface="Aptos"/>
                <a:cs typeface="Arial"/>
              </a:rPr>
              <a:t>). </a:t>
            </a:r>
            <a:r>
              <a:rPr lang="en-US" sz="2400" err="1">
                <a:latin typeface="Aptos"/>
                <a:cs typeface="Arial"/>
              </a:rPr>
              <a:t>Существует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несколько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ситуаций</a:t>
            </a:r>
            <a:r>
              <a:rPr lang="en-US" sz="2400">
                <a:latin typeface="Aptos"/>
                <a:cs typeface="Arial"/>
              </a:rPr>
              <a:t>, в </a:t>
            </a:r>
            <a:r>
              <a:rPr lang="en-US" sz="2400" err="1">
                <a:latin typeface="Aptos"/>
                <a:cs typeface="Arial"/>
              </a:rPr>
              <a:t>которых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может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быть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создан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новый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.</a:t>
            </a:r>
            <a:endParaRPr lang="en-US"/>
          </a:p>
          <a:p>
            <a:pPr marL="342900" indent="-342900"/>
            <a:r>
              <a:rPr lang="en-US" sz="2400" err="1">
                <a:latin typeface="Aptos"/>
                <a:cs typeface="Arial"/>
              </a:rPr>
              <a:t>Если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процесс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создается</a:t>
            </a:r>
            <a:r>
              <a:rPr lang="en-US" sz="2400">
                <a:latin typeface="Aptos"/>
                <a:cs typeface="Arial"/>
              </a:rPr>
              <a:t> с </a:t>
            </a:r>
            <a:r>
              <a:rPr lang="en-US" sz="2400" err="1">
                <a:latin typeface="Aptos"/>
                <a:cs typeface="Arial"/>
              </a:rPr>
              <a:t>помощью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системного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вызова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тогда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после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распределения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адресного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пространства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автоматически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создается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внутри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этого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процесса</a:t>
            </a:r>
            <a:r>
              <a:rPr lang="en-US" sz="2400">
                <a:latin typeface="Aptos"/>
                <a:cs typeface="Arial"/>
              </a:rPr>
              <a:t> (</a:t>
            </a:r>
            <a:r>
              <a:rPr lang="en-US" sz="2400" err="1">
                <a:latin typeface="Aptos"/>
                <a:cs typeface="Arial"/>
              </a:rPr>
              <a:t>чаще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всего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это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главный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). </a:t>
            </a:r>
            <a:r>
              <a:rPr lang="en-US" sz="2400" err="1">
                <a:latin typeface="Aptos"/>
                <a:cs typeface="Arial"/>
              </a:rPr>
              <a:t>Можно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создавать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из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кода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пользователя</a:t>
            </a:r>
            <a:r>
              <a:rPr lang="en-US" sz="2400">
                <a:latin typeface="Aptos"/>
                <a:cs typeface="Arial"/>
              </a:rPr>
              <a:t> с </a:t>
            </a:r>
            <a:r>
              <a:rPr lang="en-US" sz="2400" err="1">
                <a:latin typeface="Aptos"/>
                <a:cs typeface="Arial"/>
              </a:rPr>
              <a:t>помощью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соответствующего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системного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вызова</a:t>
            </a:r>
            <a:r>
              <a:rPr lang="en-US" sz="2400">
                <a:latin typeface="Aptos"/>
                <a:cs typeface="Arial"/>
              </a:rPr>
              <a:t>.</a:t>
            </a:r>
          </a:p>
          <a:p>
            <a:pPr marL="342900" indent="-342900"/>
            <a:r>
              <a:rPr lang="en-US" sz="2400">
                <a:latin typeface="Aptos"/>
                <a:cs typeface="Arial"/>
              </a:rPr>
              <a:t>В Windows </a:t>
            </a:r>
            <a:r>
              <a:rPr lang="en-US" sz="2400" err="1">
                <a:latin typeface="Aptos"/>
                <a:cs typeface="Arial"/>
              </a:rPr>
              <a:t>есть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специальные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ea typeface="+mn-lt"/>
                <a:cs typeface="+mn-lt"/>
              </a:rPr>
              <a:t>потоки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которые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принадлежат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ядру</a:t>
            </a:r>
            <a:r>
              <a:rPr lang="en-US" sz="2400">
                <a:ea typeface="+mn-lt"/>
                <a:cs typeface="+mn-lt"/>
              </a:rPr>
              <a:t> и </a:t>
            </a:r>
            <a:r>
              <a:rPr lang="en-US" sz="2400" err="1">
                <a:ea typeface="+mn-lt"/>
                <a:cs typeface="+mn-lt"/>
              </a:rPr>
              <a:t>выполняют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его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код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 sz="2400" err="1">
              <a:ea typeface="+mn-lt"/>
              <a:cs typeface="Arial"/>
            </a:endParaRPr>
          </a:p>
          <a:p>
            <a:pPr marL="342900" indent="-342900"/>
            <a:endParaRPr lang="en-US" sz="2400">
              <a:latin typeface="Aptos"/>
              <a:cs typeface="Arial"/>
            </a:endParaRPr>
          </a:p>
          <a:p>
            <a:pPr marL="342900" indent="-342900"/>
            <a:endParaRPr lang="en-US" sz="2400">
              <a:latin typeface="Aptos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84018-5BAE-2E1B-823D-0E5274A21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471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5153D-7972-DF6C-802B-A0F833849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64" y="647989"/>
            <a:ext cx="11104417" cy="555206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err="1"/>
              <a:t>Во</a:t>
            </a:r>
            <a:r>
              <a:rPr lang="en-US"/>
              <a:t> </a:t>
            </a:r>
            <a:r>
              <a:rPr lang="en-US" err="1"/>
              <a:t>время</a:t>
            </a:r>
            <a:r>
              <a:rPr lang="en-US"/>
              <a:t> </a:t>
            </a:r>
            <a:r>
              <a:rPr lang="en-US" err="1"/>
              <a:t>создания</a:t>
            </a:r>
            <a:r>
              <a:rPr lang="en-US"/>
              <a:t> </a:t>
            </a:r>
            <a:r>
              <a:rPr lang="en-US" err="1"/>
              <a:t>потока</a:t>
            </a:r>
            <a:r>
              <a:rPr lang="en-US"/>
              <a:t> </a:t>
            </a:r>
            <a:r>
              <a:rPr lang="en-US" err="1"/>
              <a:t>система</a:t>
            </a:r>
            <a:r>
              <a:rPr lang="en-US"/>
              <a:t> </a:t>
            </a:r>
            <a:r>
              <a:rPr lang="en-US" err="1"/>
              <a:t>должна</a:t>
            </a:r>
            <a:r>
              <a:rPr lang="en-US"/>
              <a:t> </a:t>
            </a:r>
            <a:r>
              <a:rPr lang="en-US" err="1"/>
              <a:t>следующие</a:t>
            </a:r>
            <a:r>
              <a:rPr lang="en-US"/>
              <a:t> </a:t>
            </a:r>
            <a:r>
              <a:rPr lang="en-US" err="1"/>
              <a:t>действия</a:t>
            </a:r>
            <a:r>
              <a:rPr lang="en-US"/>
              <a:t>:</a:t>
            </a:r>
          </a:p>
          <a:p>
            <a:r>
              <a:rPr lang="en-US" err="1"/>
              <a:t>Создать</a:t>
            </a:r>
            <a:r>
              <a:rPr lang="en-US"/>
              <a:t> </a:t>
            </a:r>
            <a:r>
              <a:rPr lang="en-US" err="1"/>
              <a:t>структуры</a:t>
            </a:r>
            <a:r>
              <a:rPr lang="en-US"/>
              <a:t> </a:t>
            </a:r>
            <a:r>
              <a:rPr lang="en-US" err="1"/>
              <a:t>данных</a:t>
            </a:r>
            <a:r>
              <a:rPr lang="en-US"/>
              <a:t>, </a:t>
            </a:r>
            <a:r>
              <a:rPr lang="en-US" err="1"/>
              <a:t>которые</a:t>
            </a:r>
            <a:r>
              <a:rPr lang="en-US"/>
              <a:t> </a:t>
            </a:r>
            <a:r>
              <a:rPr lang="en-US" err="1"/>
              <a:t>отображают</a:t>
            </a:r>
            <a:r>
              <a:rPr lang="en-US"/>
              <a:t> </a:t>
            </a:r>
            <a:r>
              <a:rPr lang="en-US" err="1"/>
              <a:t>поток</a:t>
            </a:r>
            <a:r>
              <a:rPr lang="en-US"/>
              <a:t> в ОС.</a:t>
            </a:r>
          </a:p>
          <a:p>
            <a:r>
              <a:rPr lang="en-US" err="1"/>
              <a:t>Выделить</a:t>
            </a:r>
            <a:r>
              <a:rPr lang="en-US"/>
              <a:t> </a:t>
            </a:r>
            <a:r>
              <a:rPr lang="en-US" err="1"/>
              <a:t>память</a:t>
            </a:r>
            <a:r>
              <a:rPr lang="en-US"/>
              <a:t> </a:t>
            </a:r>
            <a:r>
              <a:rPr lang="en-US" err="1"/>
              <a:t>под</a:t>
            </a:r>
            <a:r>
              <a:rPr lang="en-US"/>
              <a:t> </a:t>
            </a:r>
            <a:r>
              <a:rPr lang="en-US" err="1"/>
              <a:t>стек</a:t>
            </a:r>
            <a:r>
              <a:rPr lang="en-US"/>
              <a:t> </a:t>
            </a:r>
            <a:r>
              <a:rPr lang="en-US" err="1"/>
              <a:t>потока</a:t>
            </a:r>
            <a:r>
              <a:rPr lang="en-US"/>
              <a:t>.</a:t>
            </a:r>
          </a:p>
          <a:p>
            <a:pPr algn="just"/>
            <a:r>
              <a:rPr lang="en-US" err="1"/>
              <a:t>Установить</a:t>
            </a:r>
            <a:r>
              <a:rPr lang="en-US"/>
              <a:t> </a:t>
            </a:r>
            <a:r>
              <a:rPr lang="en-US" err="1"/>
              <a:t>счетчик</a:t>
            </a:r>
            <a:r>
              <a:rPr lang="en-US"/>
              <a:t> </a:t>
            </a:r>
            <a:r>
              <a:rPr lang="en-US" err="1"/>
              <a:t>команд</a:t>
            </a:r>
            <a:r>
              <a:rPr lang="en-US"/>
              <a:t> </a:t>
            </a:r>
            <a:r>
              <a:rPr lang="en-US" err="1"/>
              <a:t>процессора</a:t>
            </a:r>
            <a:r>
              <a:rPr lang="en-US"/>
              <a:t> </a:t>
            </a:r>
            <a:r>
              <a:rPr lang="en-US" err="1"/>
              <a:t>на</a:t>
            </a:r>
            <a:r>
              <a:rPr lang="en-US"/>
              <a:t> </a:t>
            </a:r>
            <a:r>
              <a:rPr lang="en-US" err="1"/>
              <a:t>начало</a:t>
            </a:r>
            <a:r>
              <a:rPr lang="en-US"/>
              <a:t> </a:t>
            </a:r>
            <a:r>
              <a:rPr lang="en-US" err="1"/>
              <a:t>кода</a:t>
            </a:r>
            <a:r>
              <a:rPr lang="en-US"/>
              <a:t>, </a:t>
            </a:r>
            <a:r>
              <a:rPr lang="en-US" err="1"/>
              <a:t>который</a:t>
            </a:r>
            <a:r>
              <a:rPr lang="en-US"/>
              <a:t> </a:t>
            </a:r>
            <a:r>
              <a:rPr lang="en-US" err="1"/>
              <a:t>будет</a:t>
            </a:r>
            <a:r>
              <a:rPr lang="en-US"/>
              <a:t> </a:t>
            </a:r>
            <a:r>
              <a:rPr lang="en-US" err="1"/>
              <a:t>выполняться</a:t>
            </a:r>
            <a:r>
              <a:rPr lang="en-US"/>
              <a:t> в </a:t>
            </a:r>
            <a:r>
              <a:rPr lang="en-US" err="1"/>
              <a:t>потоке</a:t>
            </a:r>
            <a:r>
              <a:rPr lang="en-US"/>
              <a:t>; </a:t>
            </a:r>
            <a:r>
              <a:rPr lang="en-US" err="1"/>
              <a:t>этот</a:t>
            </a:r>
            <a:r>
              <a:rPr lang="en-US"/>
              <a:t> </a:t>
            </a:r>
            <a:r>
              <a:rPr lang="en-US" err="1"/>
              <a:t>код</a:t>
            </a:r>
            <a:r>
              <a:rPr lang="en-US"/>
              <a:t> </a:t>
            </a:r>
            <a:r>
              <a:rPr lang="en-US" err="1"/>
              <a:t>называют</a:t>
            </a:r>
            <a:r>
              <a:rPr lang="en-US"/>
              <a:t> </a:t>
            </a:r>
            <a:r>
              <a:rPr lang="en-US" err="1"/>
              <a:t>процедурой</a:t>
            </a:r>
            <a:r>
              <a:rPr lang="en-US"/>
              <a:t> </a:t>
            </a:r>
            <a:r>
              <a:rPr lang="en-US" err="1"/>
              <a:t>или</a:t>
            </a:r>
            <a:r>
              <a:rPr lang="en-US"/>
              <a:t> </a:t>
            </a:r>
            <a:r>
              <a:rPr lang="en-US" err="1"/>
              <a:t>функцией</a:t>
            </a:r>
            <a:r>
              <a:rPr lang="en-US"/>
              <a:t> </a:t>
            </a:r>
            <a:r>
              <a:rPr lang="en-US" err="1"/>
              <a:t>потока</a:t>
            </a:r>
            <a:r>
              <a:rPr lang="en-US"/>
              <a:t>, </a:t>
            </a:r>
            <a:r>
              <a:rPr lang="en-US" err="1"/>
              <a:t>указатель</a:t>
            </a:r>
            <a:r>
              <a:rPr lang="en-US"/>
              <a:t> </a:t>
            </a:r>
            <a:r>
              <a:rPr lang="en-US" err="1"/>
              <a:t>на</a:t>
            </a:r>
            <a:r>
              <a:rPr lang="en-US"/>
              <a:t> </a:t>
            </a:r>
            <a:r>
              <a:rPr lang="en-US" err="1"/>
              <a:t>такую</a:t>
            </a:r>
            <a:r>
              <a:rPr lang="en-US"/>
              <a:t> </a:t>
            </a:r>
            <a:r>
              <a:rPr lang="en-US" err="1"/>
              <a:t>процедуру</a:t>
            </a:r>
            <a:r>
              <a:rPr lang="en-US"/>
              <a:t> </a:t>
            </a:r>
            <a:r>
              <a:rPr lang="en-US" err="1"/>
              <a:t>передают</a:t>
            </a:r>
            <a:r>
              <a:rPr lang="en-US"/>
              <a:t> в </a:t>
            </a:r>
            <a:r>
              <a:rPr lang="en-US" err="1"/>
              <a:t>системный</a:t>
            </a:r>
            <a:r>
              <a:rPr lang="en-US"/>
              <a:t> </a:t>
            </a:r>
            <a:r>
              <a:rPr lang="en-US" err="1"/>
              <a:t>вызов</a:t>
            </a:r>
            <a:r>
              <a:rPr lang="en-US"/>
              <a:t> </a:t>
            </a:r>
            <a:r>
              <a:rPr lang="en-US" err="1"/>
              <a:t>создания</a:t>
            </a:r>
            <a:r>
              <a:rPr lang="en-US"/>
              <a:t> </a:t>
            </a:r>
            <a:r>
              <a:rPr lang="en-US" err="1"/>
              <a:t>потока</a:t>
            </a:r>
            <a:r>
              <a:rPr lang="en-US"/>
              <a:t>.</a:t>
            </a:r>
          </a:p>
          <a:p>
            <a:pPr algn="just"/>
            <a:endParaRPr lang="en-US">
              <a:latin typeface="Aptos"/>
              <a:cs typeface="Arial"/>
            </a:endParaRPr>
          </a:p>
          <a:p>
            <a:pPr algn="just"/>
            <a:r>
              <a:rPr lang="en-US" err="1">
                <a:latin typeface="Aptos"/>
                <a:cs typeface="Arial"/>
              </a:rPr>
              <a:t>Следует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отметить</a:t>
            </a:r>
            <a:r>
              <a:rPr lang="en-US">
                <a:latin typeface="Aptos"/>
                <a:cs typeface="Arial"/>
              </a:rPr>
              <a:t>, </a:t>
            </a:r>
            <a:r>
              <a:rPr lang="en-US" err="1">
                <a:latin typeface="Aptos"/>
                <a:cs typeface="Arial"/>
              </a:rPr>
              <a:t>что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во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время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создания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потоков</a:t>
            </a:r>
            <a:r>
              <a:rPr lang="en-US">
                <a:latin typeface="Aptos"/>
                <a:cs typeface="Arial"/>
              </a:rPr>
              <a:t>, в </a:t>
            </a:r>
            <a:r>
              <a:rPr lang="en-US" err="1">
                <a:latin typeface="Aptos"/>
                <a:cs typeface="Arial"/>
              </a:rPr>
              <a:t>отличие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от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создания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процессов</a:t>
            </a:r>
            <a:r>
              <a:rPr lang="en-US">
                <a:latin typeface="Aptos"/>
                <a:cs typeface="Arial"/>
              </a:rPr>
              <a:t>, </a:t>
            </a:r>
            <a:r>
              <a:rPr lang="en-US" err="1">
                <a:latin typeface="Aptos"/>
                <a:cs typeface="Arial"/>
              </a:rPr>
              <a:t>нет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необходимости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выделять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новую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память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под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адресное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пространство</a:t>
            </a:r>
            <a:r>
              <a:rPr lang="en-US">
                <a:latin typeface="Aptos"/>
                <a:cs typeface="Arial"/>
              </a:rPr>
              <a:t>, </a:t>
            </a:r>
            <a:r>
              <a:rPr lang="en-US" err="1">
                <a:latin typeface="Aptos"/>
                <a:cs typeface="Arial"/>
              </a:rPr>
              <a:t>поэтому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потоки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создаются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быстрее</a:t>
            </a:r>
            <a:r>
              <a:rPr lang="en-US">
                <a:latin typeface="Aptos"/>
                <a:cs typeface="Arial"/>
              </a:rPr>
              <a:t> и с </a:t>
            </a:r>
            <a:r>
              <a:rPr lang="en-US" err="1">
                <a:latin typeface="Aptos"/>
                <a:cs typeface="Arial"/>
              </a:rPr>
              <a:t>меньшими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затратами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ресурсов</a:t>
            </a:r>
            <a:r>
              <a:rPr lang="en-US">
                <a:latin typeface="Aptos"/>
                <a:cs typeface="Arial"/>
              </a:rPr>
              <a:t>.</a:t>
            </a:r>
            <a:endParaRPr lang="en-US">
              <a:latin typeface="Apto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AED37-C092-B444-BF53-7FDBA8BA6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933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3FA86-BB8C-6161-42CA-198A19ED8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4FC53-00D4-394C-198B-A17FA5030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Информация</a:t>
            </a:r>
            <a:r>
              <a:rPr lang="en-US"/>
              <a:t> о </a:t>
            </a:r>
            <a:r>
              <a:rPr lang="en-US" err="1"/>
              <a:t>потоке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16404-DA41-0850-0ED5-40C5D66D5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9367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Модель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процесса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основана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двух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независимых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понятиях</a:t>
            </a:r>
            <a:r>
              <a:rPr lang="en-US">
                <a:ea typeface="+mn-lt"/>
                <a:cs typeface="+mn-lt"/>
              </a:rPr>
              <a:t>: </a:t>
            </a:r>
            <a:r>
              <a:rPr lang="en-US" err="1">
                <a:ea typeface="+mn-lt"/>
                <a:cs typeface="+mn-lt"/>
              </a:rPr>
              <a:t>группировке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ресурсов</a:t>
            </a:r>
            <a:r>
              <a:rPr lang="en-US">
                <a:ea typeface="+mn-lt"/>
                <a:cs typeface="+mn-lt"/>
              </a:rPr>
              <a:t> и </a:t>
            </a:r>
            <a:r>
              <a:rPr lang="en-US" err="1">
                <a:ea typeface="+mn-lt"/>
                <a:cs typeface="+mn-lt"/>
              </a:rPr>
              <a:t>выполнении</a:t>
            </a:r>
            <a:r>
              <a:rPr lang="en-US">
                <a:ea typeface="+mn-lt"/>
                <a:cs typeface="+mn-lt"/>
              </a:rPr>
              <a:t>. </a:t>
            </a:r>
          </a:p>
          <a:p>
            <a:r>
              <a:rPr lang="en-US" err="1">
                <a:ea typeface="+mn-lt"/>
                <a:cs typeface="+mn-lt"/>
              </a:rPr>
              <a:t>Процесс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является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способом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группировки</a:t>
            </a:r>
            <a:r>
              <a:rPr lang="en-US">
                <a:ea typeface="+mn-lt"/>
                <a:cs typeface="+mn-lt"/>
              </a:rPr>
              <a:t> в </a:t>
            </a:r>
            <a:r>
              <a:rPr lang="en-US" err="1">
                <a:ea typeface="+mn-lt"/>
                <a:cs typeface="+mn-lt"/>
              </a:rPr>
              <a:t>единое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целое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взаимосвязанных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ресурсов</a:t>
            </a:r>
            <a:r>
              <a:rPr lang="en-US">
                <a:ea typeface="+mn-lt"/>
                <a:cs typeface="+mn-lt"/>
              </a:rPr>
              <a:t>. У </a:t>
            </a:r>
            <a:r>
              <a:rPr lang="en-US" err="1">
                <a:ea typeface="+mn-lt"/>
                <a:cs typeface="+mn-lt"/>
              </a:rPr>
              <a:t>процесса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есть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адресное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пространство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содержащее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текст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программы</a:t>
            </a:r>
            <a:r>
              <a:rPr lang="en-US">
                <a:ea typeface="+mn-lt"/>
                <a:cs typeface="+mn-lt"/>
              </a:rPr>
              <a:t> и </a:t>
            </a:r>
            <a:r>
              <a:rPr lang="en-US" err="1">
                <a:ea typeface="+mn-lt"/>
                <a:cs typeface="+mn-lt"/>
              </a:rPr>
              <a:t>данные</a:t>
            </a:r>
            <a:r>
              <a:rPr lang="en-US">
                <a:ea typeface="+mn-lt"/>
                <a:cs typeface="+mn-lt"/>
              </a:rPr>
              <a:t>, а </a:t>
            </a:r>
            <a:r>
              <a:rPr lang="en-US" err="1">
                <a:ea typeface="+mn-lt"/>
                <a:cs typeface="+mn-lt"/>
              </a:rPr>
              <a:t>также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другие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ресурсы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err="1">
                <a:ea typeface="+mn-lt"/>
                <a:cs typeface="+mn-lt"/>
              </a:rPr>
              <a:t>Управление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этими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ресурсами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можно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значительно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облегчить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если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собрать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их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воедино</a:t>
            </a:r>
            <a:r>
              <a:rPr lang="en-US">
                <a:ea typeface="+mn-lt"/>
                <a:cs typeface="+mn-lt"/>
              </a:rPr>
              <a:t> в </a:t>
            </a:r>
            <a:r>
              <a:rPr lang="en-US" err="1">
                <a:ea typeface="+mn-lt"/>
                <a:cs typeface="+mn-lt"/>
              </a:rPr>
              <a:t>виде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процесса</a:t>
            </a:r>
            <a:r>
              <a:rPr lang="en-US">
                <a:ea typeface="+mn-lt"/>
                <a:cs typeface="+mn-lt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87DAD-F592-D6A1-3337-38D59F898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99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76FFD-8BBF-999F-C6B5-094E4E10A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747" y="412236"/>
            <a:ext cx="10638504" cy="37368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500" err="1">
                <a:ea typeface="+mn-lt"/>
                <a:cs typeface="+mn-lt"/>
              </a:rPr>
              <a:t>Другое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присущее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процессу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понятие</a:t>
            </a:r>
            <a:r>
              <a:rPr lang="en-US" sz="2500">
                <a:ea typeface="+mn-lt"/>
                <a:cs typeface="+mn-lt"/>
              </a:rPr>
              <a:t> — </a:t>
            </a:r>
            <a:r>
              <a:rPr lang="en-US" sz="2500" err="1">
                <a:ea typeface="+mn-lt"/>
                <a:cs typeface="+mn-lt"/>
              </a:rPr>
              <a:t>поток</a:t>
            </a:r>
            <a:r>
              <a:rPr lang="en-US" sz="2500">
                <a:ea typeface="+mn-lt"/>
                <a:cs typeface="+mn-lt"/>
              </a:rPr>
              <a:t>. У </a:t>
            </a:r>
            <a:r>
              <a:rPr lang="en-US" sz="2500" err="1">
                <a:ea typeface="+mn-lt"/>
                <a:cs typeface="+mn-lt"/>
              </a:rPr>
              <a:t>потока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есть</a:t>
            </a:r>
            <a:r>
              <a:rPr lang="en-US" sz="2500">
                <a:ea typeface="+mn-lt"/>
                <a:cs typeface="+mn-lt"/>
              </a:rPr>
              <a:t>:</a:t>
            </a:r>
            <a:endParaRPr lang="en-US" sz="2500"/>
          </a:p>
          <a:p>
            <a:r>
              <a:rPr lang="en-US" sz="2500" err="1">
                <a:ea typeface="+mn-lt"/>
                <a:cs typeface="+mn-lt"/>
              </a:rPr>
              <a:t>счетчик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команд</a:t>
            </a:r>
            <a:r>
              <a:rPr lang="en-US" sz="2500">
                <a:ea typeface="+mn-lt"/>
                <a:cs typeface="+mn-lt"/>
              </a:rPr>
              <a:t>, </a:t>
            </a:r>
            <a:r>
              <a:rPr lang="en-US" sz="2500" err="1">
                <a:ea typeface="+mn-lt"/>
                <a:cs typeface="+mn-lt"/>
              </a:rPr>
              <a:t>отслеживающий</a:t>
            </a:r>
            <a:r>
              <a:rPr lang="en-US" sz="2500">
                <a:ea typeface="+mn-lt"/>
                <a:cs typeface="+mn-lt"/>
              </a:rPr>
              <a:t>, </a:t>
            </a:r>
            <a:r>
              <a:rPr lang="en-US" sz="2500" err="1">
                <a:ea typeface="+mn-lt"/>
                <a:cs typeface="+mn-lt"/>
              </a:rPr>
              <a:t>какую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инструкцию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нужно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выполнять</a:t>
            </a:r>
            <a:r>
              <a:rPr lang="en-US" sz="2500">
                <a:ea typeface="+mn-lt"/>
                <a:cs typeface="+mn-lt"/>
              </a:rPr>
              <a:t>;</a:t>
            </a:r>
          </a:p>
          <a:p>
            <a:r>
              <a:rPr lang="en-US" sz="2500" err="1">
                <a:ea typeface="+mn-lt"/>
                <a:cs typeface="+mn-lt"/>
              </a:rPr>
              <a:t>регистры</a:t>
            </a:r>
            <a:r>
              <a:rPr lang="en-US" sz="2500">
                <a:ea typeface="+mn-lt"/>
                <a:cs typeface="+mn-lt"/>
              </a:rPr>
              <a:t>, в </a:t>
            </a:r>
            <a:r>
              <a:rPr lang="en-US" sz="2500" err="1">
                <a:ea typeface="+mn-lt"/>
                <a:cs typeface="+mn-lt"/>
              </a:rPr>
              <a:t>которых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содержатся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текущие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рабочие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переменные</a:t>
            </a:r>
            <a:r>
              <a:rPr lang="en-US" sz="2500">
                <a:ea typeface="+mn-lt"/>
                <a:cs typeface="+mn-lt"/>
              </a:rPr>
              <a:t>;</a:t>
            </a:r>
          </a:p>
          <a:p>
            <a:r>
              <a:rPr lang="en-US" sz="2500" err="1">
                <a:ea typeface="+mn-lt"/>
                <a:cs typeface="+mn-lt"/>
              </a:rPr>
              <a:t>стек</a:t>
            </a:r>
            <a:r>
              <a:rPr lang="en-US" sz="2500">
                <a:ea typeface="+mn-lt"/>
                <a:cs typeface="+mn-lt"/>
              </a:rPr>
              <a:t> с </a:t>
            </a:r>
            <a:r>
              <a:rPr lang="en-US" sz="2500" err="1">
                <a:ea typeface="+mn-lt"/>
                <a:cs typeface="+mn-lt"/>
              </a:rPr>
              <a:t>протоколом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выполнения</a:t>
            </a:r>
            <a:r>
              <a:rPr lang="en-US" sz="2500">
                <a:ea typeface="+mn-lt"/>
                <a:cs typeface="+mn-lt"/>
              </a:rPr>
              <a:t>, </a:t>
            </a:r>
            <a:r>
              <a:rPr lang="en-US" sz="2500" err="1">
                <a:ea typeface="+mn-lt"/>
                <a:cs typeface="+mn-lt"/>
              </a:rPr>
              <a:t>содержащим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по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одному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фрейму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для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каждой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вызванной</a:t>
            </a:r>
            <a:r>
              <a:rPr lang="en-US" sz="2500">
                <a:ea typeface="+mn-lt"/>
                <a:cs typeface="+mn-lt"/>
              </a:rPr>
              <a:t>, </a:t>
            </a:r>
            <a:r>
              <a:rPr lang="en-US" sz="2500" err="1">
                <a:ea typeface="+mn-lt"/>
                <a:cs typeface="+mn-lt"/>
              </a:rPr>
              <a:t>но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еще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не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возвратившей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управление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процедуры</a:t>
            </a:r>
            <a:r>
              <a:rPr lang="en-US" sz="2500">
                <a:ea typeface="+mn-lt"/>
                <a:cs typeface="+mn-lt"/>
              </a:rPr>
              <a:t>.</a:t>
            </a:r>
          </a:p>
          <a:p>
            <a:endParaRPr lang="en-US" sz="2000"/>
          </a:p>
        </p:txBody>
      </p:sp>
      <p:pic>
        <p:nvPicPr>
          <p:cNvPr id="4" name="Picture 3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62905FFB-079F-5398-DF76-F4B81283E7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111" y="3145861"/>
            <a:ext cx="9121263" cy="32824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762024-EAF5-FE19-320C-34BB14DF5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485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4DA6B6-2ECF-82A6-8833-EB6D36238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426" y="326208"/>
            <a:ext cx="6681015" cy="64775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500" err="1"/>
              <a:t>Хотя</a:t>
            </a:r>
            <a:r>
              <a:rPr lang="en-US" sz="2500"/>
              <a:t> </a:t>
            </a:r>
            <a:r>
              <a:rPr lang="en-US" sz="2500" err="1"/>
              <a:t>поток</a:t>
            </a:r>
            <a:r>
              <a:rPr lang="en-US" sz="2500"/>
              <a:t> </a:t>
            </a:r>
            <a:r>
              <a:rPr lang="en-US" sz="2500" err="1"/>
              <a:t>может</a:t>
            </a:r>
            <a:r>
              <a:rPr lang="en-US" sz="2500"/>
              <a:t> </a:t>
            </a:r>
            <a:r>
              <a:rPr lang="en-US" sz="2500" err="1"/>
              <a:t>быть</a:t>
            </a:r>
            <a:r>
              <a:rPr lang="en-US" sz="2500"/>
              <a:t> </a:t>
            </a:r>
            <a:r>
              <a:rPr lang="en-US" sz="2500" err="1"/>
              <a:t>единственным</a:t>
            </a:r>
            <a:r>
              <a:rPr lang="en-US" sz="2500"/>
              <a:t> в </a:t>
            </a:r>
            <a:r>
              <a:rPr lang="en-US" sz="2500" err="1"/>
              <a:t>рамках</a:t>
            </a:r>
            <a:r>
              <a:rPr lang="en-US" sz="2500"/>
              <a:t> </a:t>
            </a:r>
            <a:r>
              <a:rPr lang="en-US" sz="2500" err="1"/>
              <a:t>процесса</a:t>
            </a:r>
            <a:r>
              <a:rPr lang="en-US" sz="2500"/>
              <a:t>, </a:t>
            </a:r>
            <a:r>
              <a:rPr lang="en-US" sz="2500" err="1"/>
              <a:t>поток</a:t>
            </a:r>
            <a:r>
              <a:rPr lang="en-US" sz="2500"/>
              <a:t> и </a:t>
            </a:r>
            <a:r>
              <a:rPr lang="en-US" sz="2500" err="1"/>
              <a:t>процесс</a:t>
            </a:r>
            <a:r>
              <a:rPr lang="en-US" sz="2500"/>
              <a:t> </a:t>
            </a:r>
            <a:r>
              <a:rPr lang="en-US" sz="2500" err="1"/>
              <a:t>рассматриваются</a:t>
            </a:r>
            <a:r>
              <a:rPr lang="en-US" sz="2500"/>
              <a:t> </a:t>
            </a:r>
            <a:r>
              <a:rPr lang="en-US" sz="2500" err="1"/>
              <a:t>по</a:t>
            </a:r>
            <a:r>
              <a:rPr lang="en-US" sz="2500"/>
              <a:t> </a:t>
            </a:r>
            <a:r>
              <a:rPr lang="en-US" sz="2500" err="1"/>
              <a:t>отдельности</a:t>
            </a:r>
            <a:r>
              <a:rPr lang="en-US" sz="2500"/>
              <a:t>.</a:t>
            </a:r>
            <a:endParaRPr lang="en-US"/>
          </a:p>
          <a:p>
            <a:r>
              <a:rPr lang="en-US" sz="2500" err="1"/>
              <a:t>Процессы</a:t>
            </a:r>
            <a:r>
              <a:rPr lang="en-US" sz="2500"/>
              <a:t> </a:t>
            </a:r>
            <a:r>
              <a:rPr lang="en-US" sz="2500" err="1"/>
              <a:t>используются</a:t>
            </a:r>
            <a:r>
              <a:rPr lang="en-US" sz="2500"/>
              <a:t> </a:t>
            </a:r>
            <a:r>
              <a:rPr lang="en-US" sz="2500" err="1"/>
              <a:t>для</a:t>
            </a:r>
            <a:r>
              <a:rPr lang="en-US" sz="2500"/>
              <a:t> </a:t>
            </a:r>
            <a:r>
              <a:rPr lang="en-US" sz="2500" err="1"/>
              <a:t>группировки</a:t>
            </a:r>
            <a:r>
              <a:rPr lang="en-US" sz="2500"/>
              <a:t> </a:t>
            </a:r>
            <a:r>
              <a:rPr lang="en-US" sz="2500" err="1"/>
              <a:t>ресурсов</a:t>
            </a:r>
            <a:r>
              <a:rPr lang="en-US" sz="2500"/>
              <a:t> в </a:t>
            </a:r>
            <a:r>
              <a:rPr lang="en-US" sz="2500" err="1"/>
              <a:t>единое</a:t>
            </a:r>
            <a:r>
              <a:rPr lang="en-US" sz="2500"/>
              <a:t> </a:t>
            </a:r>
            <a:r>
              <a:rPr lang="en-US" sz="2500" err="1"/>
              <a:t>образование</a:t>
            </a:r>
            <a:r>
              <a:rPr lang="en-US" sz="2500"/>
              <a:t>, а </a:t>
            </a:r>
            <a:r>
              <a:rPr lang="en-US" sz="2500" err="1"/>
              <a:t>потоки</a:t>
            </a:r>
            <a:r>
              <a:rPr lang="en-US" sz="2500"/>
              <a:t> </a:t>
            </a:r>
            <a:r>
              <a:rPr lang="en-US" sz="2500" err="1"/>
              <a:t>распределяют</a:t>
            </a:r>
            <a:r>
              <a:rPr lang="en-US" sz="2500"/>
              <a:t> </a:t>
            </a:r>
            <a:r>
              <a:rPr lang="en-US" sz="2500" err="1"/>
              <a:t>выполнение</a:t>
            </a:r>
            <a:r>
              <a:rPr lang="en-US" sz="2500"/>
              <a:t> </a:t>
            </a:r>
            <a:r>
              <a:rPr lang="en-US" sz="2500" err="1"/>
              <a:t>процесса</a:t>
            </a:r>
            <a:r>
              <a:rPr lang="en-US" sz="2500"/>
              <a:t> </a:t>
            </a:r>
            <a:r>
              <a:rPr lang="en-US" sz="2500" err="1"/>
              <a:t>на</a:t>
            </a:r>
            <a:r>
              <a:rPr lang="en-US" sz="2500"/>
              <a:t> </a:t>
            </a:r>
            <a:r>
              <a:rPr lang="en-US" sz="2500" err="1"/>
              <a:t>центральном</a:t>
            </a:r>
            <a:r>
              <a:rPr lang="en-US" sz="2500"/>
              <a:t> </a:t>
            </a:r>
            <a:r>
              <a:rPr lang="en-US" sz="2500" err="1"/>
              <a:t>процессоре</a:t>
            </a:r>
            <a:r>
              <a:rPr lang="en-US" sz="2500"/>
              <a:t>.</a:t>
            </a:r>
          </a:p>
          <a:p>
            <a:r>
              <a:rPr lang="en-US" sz="2500" err="1">
                <a:ea typeface="+mn-lt"/>
                <a:cs typeface="+mn-lt"/>
              </a:rPr>
              <a:t>На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рис</a:t>
            </a:r>
            <a:r>
              <a:rPr lang="en-US" sz="2500">
                <a:ea typeface="+mn-lt"/>
                <a:cs typeface="+mn-lt"/>
              </a:rPr>
              <a:t>. а </a:t>
            </a:r>
            <a:r>
              <a:rPr lang="en-US" sz="2500" err="1">
                <a:ea typeface="+mn-lt"/>
                <a:cs typeface="+mn-lt"/>
              </a:rPr>
              <a:t>показаны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три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традиционных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процесса</a:t>
            </a:r>
            <a:r>
              <a:rPr lang="en-US" sz="2500">
                <a:ea typeface="+mn-lt"/>
                <a:cs typeface="+mn-lt"/>
              </a:rPr>
              <a:t>. У </a:t>
            </a:r>
            <a:r>
              <a:rPr lang="en-US" sz="2500" err="1">
                <a:ea typeface="+mn-lt"/>
                <a:cs typeface="+mn-lt"/>
              </a:rPr>
              <a:t>каждого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из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них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имеется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собственное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адресное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пространство</a:t>
            </a:r>
            <a:r>
              <a:rPr lang="en-US" sz="2500">
                <a:ea typeface="+mn-lt"/>
                <a:cs typeface="+mn-lt"/>
              </a:rPr>
              <a:t> и </a:t>
            </a:r>
            <a:r>
              <a:rPr lang="en-US" sz="2500" err="1">
                <a:ea typeface="+mn-lt"/>
                <a:cs typeface="+mn-lt"/>
              </a:rPr>
              <a:t>единственный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поток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управления</a:t>
            </a:r>
            <a:r>
              <a:rPr lang="en-US" sz="2500">
                <a:ea typeface="+mn-lt"/>
                <a:cs typeface="+mn-lt"/>
              </a:rPr>
              <a:t>. А </a:t>
            </a:r>
            <a:r>
              <a:rPr lang="en-US" sz="2500" err="1">
                <a:ea typeface="+mn-lt"/>
                <a:cs typeface="+mn-lt"/>
              </a:rPr>
              <a:t>на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рис</a:t>
            </a:r>
            <a:r>
              <a:rPr lang="en-US" sz="2500">
                <a:ea typeface="+mn-lt"/>
                <a:cs typeface="+mn-lt"/>
              </a:rPr>
              <a:t>. б </a:t>
            </a:r>
            <a:r>
              <a:rPr lang="en-US" sz="2500" err="1">
                <a:ea typeface="+mn-lt"/>
                <a:cs typeface="+mn-lt"/>
              </a:rPr>
              <a:t>показан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один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процесс</a:t>
            </a:r>
            <a:r>
              <a:rPr lang="en-US" sz="2500">
                <a:ea typeface="+mn-lt"/>
                <a:cs typeface="+mn-lt"/>
              </a:rPr>
              <a:t>, </a:t>
            </a:r>
            <a:r>
              <a:rPr lang="en-US" sz="2500" err="1">
                <a:ea typeface="+mn-lt"/>
                <a:cs typeface="+mn-lt"/>
              </a:rPr>
              <a:t>имеющий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три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потока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управления</a:t>
            </a:r>
            <a:r>
              <a:rPr lang="en-US" sz="2500">
                <a:ea typeface="+mn-lt"/>
                <a:cs typeface="+mn-lt"/>
              </a:rPr>
              <a:t>. </a:t>
            </a:r>
            <a:r>
              <a:rPr lang="en-US" sz="2500" err="1">
                <a:ea typeface="+mn-lt"/>
                <a:cs typeface="+mn-lt"/>
              </a:rPr>
              <a:t>Все</a:t>
            </a:r>
            <a:r>
              <a:rPr lang="en-US" sz="2500">
                <a:ea typeface="+mn-lt"/>
                <a:cs typeface="+mn-lt"/>
              </a:rPr>
              <a:t> </a:t>
            </a:r>
            <a:r>
              <a:rPr lang="en-US" sz="2500" err="1">
                <a:ea typeface="+mn-lt"/>
                <a:cs typeface="+mn-lt"/>
              </a:rPr>
              <a:t>эти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потоки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используют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общее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адресное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пространство</a:t>
            </a:r>
            <a:r>
              <a:rPr lang="en-US" sz="2500">
                <a:ea typeface="+mn-lt"/>
                <a:cs typeface="+mn-lt"/>
              </a:rPr>
              <a:t>.</a:t>
            </a:r>
          </a:p>
        </p:txBody>
      </p: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37A2DBBE-7E15-6135-BF69-EB1C46B0B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561" y="212930"/>
            <a:ext cx="4556330" cy="3334980"/>
          </a:xfrm>
          <a:prstGeom prst="rect">
            <a:avLst/>
          </a:prstGeom>
        </p:spPr>
      </p:pic>
      <p:pic>
        <p:nvPicPr>
          <p:cNvPr id="9" name="Picture 8" descr="A diagram of a circle with arrows and a circle with a circle in the center&#10;&#10;AI-generated content may be incorrect.">
            <a:extLst>
              <a:ext uri="{FF2B5EF4-FFF2-40B4-BE49-F238E27FC236}">
                <a16:creationId xmlns:a16="http://schemas.microsoft.com/office/drawing/2014/main" id="{2C251BCF-1FD3-AD07-37B6-47C52C663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3332" y="3566959"/>
            <a:ext cx="2868562" cy="3116212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6CC7243-47C5-2A70-3B47-288B3BBB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84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1FC3C-018A-500D-1C3D-EED9C94A9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135" y="608884"/>
            <a:ext cx="5746955" cy="64284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500" err="1"/>
              <a:t>При</a:t>
            </a:r>
            <a:r>
              <a:rPr lang="en-US" sz="2500"/>
              <a:t> </a:t>
            </a:r>
            <a:r>
              <a:rPr lang="en-US" sz="2500" err="1"/>
              <a:t>этом</a:t>
            </a:r>
            <a:r>
              <a:rPr lang="en-US" sz="2500"/>
              <a:t> у </a:t>
            </a:r>
            <a:r>
              <a:rPr lang="en-US" sz="2500" err="1"/>
              <a:t>каждого</a:t>
            </a:r>
            <a:r>
              <a:rPr lang="en-US" sz="2500"/>
              <a:t> </a:t>
            </a:r>
            <a:r>
              <a:rPr lang="en-US" sz="2500" err="1"/>
              <a:t>потока</a:t>
            </a:r>
            <a:r>
              <a:rPr lang="en-US" sz="2500"/>
              <a:t> </a:t>
            </a:r>
            <a:r>
              <a:rPr lang="en-US" sz="2500" err="1"/>
              <a:t>есть</a:t>
            </a:r>
            <a:r>
              <a:rPr lang="en-US" sz="2500"/>
              <a:t> </a:t>
            </a:r>
            <a:r>
              <a:rPr lang="en-US" sz="2500" err="1"/>
              <a:t>свой</a:t>
            </a:r>
            <a:r>
              <a:rPr lang="en-US" sz="2500"/>
              <a:t> </a:t>
            </a:r>
            <a:r>
              <a:rPr lang="en-US" sz="2500" err="1"/>
              <a:t>собственный</a:t>
            </a:r>
            <a:r>
              <a:rPr lang="en-US" sz="2500"/>
              <a:t> </a:t>
            </a:r>
            <a:r>
              <a:rPr lang="en-US" sz="2500" err="1"/>
              <a:t>стек</a:t>
            </a:r>
            <a:r>
              <a:rPr lang="en-US" sz="2500"/>
              <a:t>, т. к. </a:t>
            </a:r>
            <a:r>
              <a:rPr lang="en-US" sz="2500" err="1">
                <a:ea typeface="+mn-lt"/>
                <a:cs typeface="+mn-lt"/>
              </a:rPr>
              <a:t>каждый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поток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будет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вызывать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различные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процедуры</a:t>
            </a:r>
            <a:r>
              <a:rPr lang="en-US" sz="2500">
                <a:ea typeface="+mn-lt"/>
                <a:cs typeface="+mn-lt"/>
              </a:rPr>
              <a:t> и </a:t>
            </a:r>
            <a:r>
              <a:rPr lang="en-US" sz="2500" err="1">
                <a:ea typeface="+mn-lt"/>
                <a:cs typeface="+mn-lt"/>
              </a:rPr>
              <a:t>иметь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среду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выполнения</a:t>
            </a:r>
            <a:r>
              <a:rPr lang="en-US" sz="2500">
                <a:ea typeface="+mn-lt"/>
                <a:cs typeface="+mn-lt"/>
              </a:rPr>
              <a:t>, </a:t>
            </a:r>
            <a:r>
              <a:rPr lang="en-US" sz="2500" err="1">
                <a:ea typeface="+mn-lt"/>
                <a:cs typeface="+mn-lt"/>
              </a:rPr>
              <a:t>отличающуюся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от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среды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выполнения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других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потоков</a:t>
            </a:r>
            <a:r>
              <a:rPr lang="en-US" sz="2500">
                <a:ea typeface="+mn-lt"/>
                <a:cs typeface="+mn-lt"/>
              </a:rPr>
              <a:t>.</a:t>
            </a:r>
            <a:endParaRPr lang="en-US" sz="2500"/>
          </a:p>
          <a:p>
            <a:r>
              <a:rPr lang="en-US" sz="2500" err="1">
                <a:ea typeface="+mn-lt"/>
                <a:cs typeface="+mn-lt"/>
              </a:rPr>
              <a:t>Стек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каждого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потока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содержит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по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одному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фрейму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для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каждой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уже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вызванной</a:t>
            </a:r>
            <a:r>
              <a:rPr lang="en-US" sz="2500">
                <a:ea typeface="+mn-lt"/>
                <a:cs typeface="+mn-lt"/>
              </a:rPr>
              <a:t>, </a:t>
            </a:r>
            <a:r>
              <a:rPr lang="en-US" sz="2500" err="1">
                <a:ea typeface="+mn-lt"/>
                <a:cs typeface="+mn-lt"/>
              </a:rPr>
              <a:t>но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еще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не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возвратившей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управление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процедуры</a:t>
            </a:r>
            <a:r>
              <a:rPr lang="en-US" sz="2500">
                <a:ea typeface="+mn-lt"/>
                <a:cs typeface="+mn-lt"/>
              </a:rPr>
              <a:t>. </a:t>
            </a:r>
            <a:endParaRPr lang="en-US" sz="2500"/>
          </a:p>
          <a:p>
            <a:r>
              <a:rPr lang="en-US" sz="2500" err="1">
                <a:ea typeface="+mn-lt"/>
                <a:cs typeface="+mn-lt"/>
              </a:rPr>
              <a:t>Такой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фрейм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содержит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локальные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переменные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процедуры</a:t>
            </a:r>
            <a:r>
              <a:rPr lang="en-US" sz="2500">
                <a:ea typeface="+mn-lt"/>
                <a:cs typeface="+mn-lt"/>
              </a:rPr>
              <a:t> и </a:t>
            </a:r>
            <a:r>
              <a:rPr lang="en-US" sz="2500" err="1">
                <a:ea typeface="+mn-lt"/>
                <a:cs typeface="+mn-lt"/>
              </a:rPr>
              <a:t>адрес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возврата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управления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по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завершении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ее</a:t>
            </a:r>
            <a:r>
              <a:rPr lang="en-US" sz="2500">
                <a:ea typeface="+mn-lt"/>
                <a:cs typeface="+mn-lt"/>
              </a:rPr>
              <a:t> </a:t>
            </a:r>
            <a:r>
              <a:rPr lang="en-US" sz="2500" err="1">
                <a:ea typeface="+mn-lt"/>
                <a:cs typeface="+mn-lt"/>
              </a:rPr>
              <a:t>вызова</a:t>
            </a:r>
            <a:r>
              <a:rPr lang="en-US" sz="2500">
                <a:ea typeface="+mn-lt"/>
                <a:cs typeface="+mn-lt"/>
              </a:rPr>
              <a:t>.</a:t>
            </a:r>
            <a:endParaRPr lang="en-US" sz="2500"/>
          </a:p>
        </p:txBody>
      </p:sp>
      <p:pic>
        <p:nvPicPr>
          <p:cNvPr id="4" name="Picture 3" descr="A diagram of a circular object with arrows and text&#10;&#10;AI-generated content may be incorrect.">
            <a:extLst>
              <a:ext uri="{FF2B5EF4-FFF2-40B4-BE49-F238E27FC236}">
                <a16:creationId xmlns:a16="http://schemas.microsoft.com/office/drawing/2014/main" id="{302CE0F7-A24A-4709-A1EE-00EF44C47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069" y="1195388"/>
            <a:ext cx="5447993" cy="365606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2AB232-EBC4-1140-2A6E-FDC419263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53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910B4-B042-C56F-06B9-15F477985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Пример</a:t>
            </a:r>
            <a:r>
              <a:rPr lang="en-US"/>
              <a:t> </a:t>
            </a:r>
            <a:r>
              <a:rPr lang="en-US" err="1"/>
              <a:t>создания</a:t>
            </a:r>
            <a:r>
              <a:rPr lang="en-US"/>
              <a:t> </a:t>
            </a:r>
            <a:r>
              <a:rPr lang="en-US" err="1"/>
              <a:t>потоков</a:t>
            </a:r>
            <a:r>
              <a:rPr lang="en-US"/>
              <a:t> в Windows (Win32, C++)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CC69B-1967-FF9F-2093-D607B49CD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F684C-F78C-3335-BE10-61AE5274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06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1062-A8B0-DF6F-D56D-929A7B2A4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Завершение</a:t>
            </a:r>
            <a:r>
              <a:rPr lang="en-US"/>
              <a:t> </a:t>
            </a:r>
            <a:r>
              <a:rPr lang="en-US" err="1"/>
              <a:t>потока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6CA60-95A4-554C-4F56-7D0668C1D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err="1">
                <a:latin typeface="Aptos"/>
                <a:cs typeface="Arial"/>
              </a:rPr>
              <a:t>Во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время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завершения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его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ресурсы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высвобождаются</a:t>
            </a:r>
            <a:r>
              <a:rPr lang="en-US" sz="2400">
                <a:latin typeface="Aptos"/>
                <a:cs typeface="Arial"/>
              </a:rPr>
              <a:t> (</a:t>
            </a:r>
            <a:r>
              <a:rPr lang="en-US" sz="2400" err="1">
                <a:latin typeface="Aptos"/>
                <a:cs typeface="Arial"/>
              </a:rPr>
              <a:t>прежде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всего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стек</a:t>
            </a:r>
            <a:r>
              <a:rPr lang="en-US" sz="2400">
                <a:latin typeface="Aptos"/>
                <a:cs typeface="Arial"/>
              </a:rPr>
              <a:t>); </a:t>
            </a:r>
            <a:r>
              <a:rPr lang="en-US" sz="2400" err="1">
                <a:latin typeface="Aptos"/>
                <a:cs typeface="Arial"/>
              </a:rPr>
              <a:t>эта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операция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обычно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выполняется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быстрее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чем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завершение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процесса</a:t>
            </a:r>
            <a:r>
              <a:rPr lang="en-US" sz="2400">
                <a:latin typeface="Aptos"/>
                <a:cs typeface="Arial"/>
              </a:rPr>
              <a:t>. 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может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быть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завершен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когда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управление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дойдет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до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конца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процедуры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потока</a:t>
            </a:r>
            <a:r>
              <a:rPr lang="en-US" sz="2400">
                <a:latin typeface="Aptos"/>
                <a:cs typeface="Arial"/>
              </a:rPr>
              <a:t>; </a:t>
            </a:r>
            <a:r>
              <a:rPr lang="en-US" sz="2400" err="1">
                <a:latin typeface="Aptos"/>
                <a:cs typeface="Arial"/>
              </a:rPr>
              <a:t>есть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также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специальные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системные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вызовы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предназначенные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для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досрочного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прекращения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выполнения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потоков</a:t>
            </a:r>
            <a:r>
              <a:rPr lang="en-US" sz="2400">
                <a:latin typeface="Aptos"/>
                <a:cs typeface="Arial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E1EB3-F82A-237D-9D02-6C753E768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188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CB9A6-04E5-EDD7-1859-8660F26ED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Ожидание</a:t>
            </a:r>
            <a:r>
              <a:rPr lang="en-US"/>
              <a:t> </a:t>
            </a:r>
            <a:r>
              <a:rPr lang="en-US" err="1"/>
              <a:t>завершения</a:t>
            </a:r>
            <a:r>
              <a:rPr lang="en-US"/>
              <a:t> </a:t>
            </a:r>
            <a:r>
              <a:rPr lang="en-US" err="1"/>
              <a:t>потока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B93F8-D1DC-8F30-BF2C-D76077C28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err="1">
                <a:latin typeface="Aptos"/>
                <a:cs typeface="Arial"/>
              </a:rPr>
              <a:t>Как</a:t>
            </a:r>
            <a:r>
              <a:rPr lang="en-US" sz="2400">
                <a:latin typeface="Aptos"/>
                <a:cs typeface="Arial"/>
              </a:rPr>
              <a:t> и </a:t>
            </a:r>
            <a:r>
              <a:rPr lang="en-US" sz="2400" err="1">
                <a:latin typeface="Aptos"/>
                <a:cs typeface="Arial"/>
              </a:rPr>
              <a:t>процессы</a:t>
            </a:r>
            <a:r>
              <a:rPr lang="en-US" sz="2400">
                <a:latin typeface="Aptos"/>
                <a:cs typeface="Arial"/>
              </a:rPr>
              <a:t>, </a:t>
            </a:r>
            <a:r>
              <a:rPr lang="en-US" sz="2400" err="1">
                <a:latin typeface="Aptos"/>
                <a:cs typeface="Arial"/>
              </a:rPr>
              <a:t>потоки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могут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выполняться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синхронно</a:t>
            </a:r>
            <a:r>
              <a:rPr lang="en-US" sz="2400">
                <a:latin typeface="Aptos"/>
                <a:cs typeface="Arial"/>
              </a:rPr>
              <a:t> и </a:t>
            </a:r>
            <a:r>
              <a:rPr lang="en-US" sz="2400" err="1">
                <a:latin typeface="Aptos"/>
                <a:cs typeface="Arial"/>
              </a:rPr>
              <a:t>асинхронно</a:t>
            </a:r>
            <a:r>
              <a:rPr lang="en-US" sz="2400">
                <a:latin typeface="Aptos"/>
                <a:cs typeface="Arial"/>
              </a:rPr>
              <a:t>. 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, </a:t>
            </a:r>
            <a:r>
              <a:rPr lang="en-US" sz="2400" err="1">
                <a:latin typeface="Aptos"/>
                <a:cs typeface="Arial"/>
              </a:rPr>
              <a:t>создав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другой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, </a:t>
            </a:r>
            <a:r>
              <a:rPr lang="en-US" sz="2400" err="1">
                <a:latin typeface="Aptos"/>
                <a:cs typeface="Arial"/>
              </a:rPr>
              <a:t>может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приостановить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свое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выполнение</a:t>
            </a:r>
            <a:r>
              <a:rPr lang="en-US" sz="2400">
                <a:latin typeface="Aptos"/>
                <a:cs typeface="Arial"/>
              </a:rPr>
              <a:t> к </a:t>
            </a:r>
            <a:r>
              <a:rPr lang="en-US" sz="2400" err="1">
                <a:latin typeface="Aptos"/>
                <a:cs typeface="Arial"/>
              </a:rPr>
              <a:t>его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завершению</a:t>
            </a:r>
            <a:r>
              <a:rPr lang="en-US" sz="2400">
                <a:latin typeface="Aptos"/>
                <a:cs typeface="Arial"/>
              </a:rPr>
              <a:t> (</a:t>
            </a:r>
            <a:r>
              <a:rPr lang="en-US" sz="2400" err="1">
                <a:latin typeface="Aptos"/>
                <a:cs typeface="Arial"/>
              </a:rPr>
              <a:t>синхронное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выполнение</a:t>
            </a:r>
            <a:r>
              <a:rPr lang="en-US" sz="2400">
                <a:latin typeface="Aptos"/>
                <a:cs typeface="Arial"/>
              </a:rPr>
              <a:t>, т. е. </a:t>
            </a:r>
            <a:r>
              <a:rPr lang="en-US" sz="2400" err="1">
                <a:latin typeface="Aptos"/>
                <a:cs typeface="Arial"/>
              </a:rPr>
              <a:t>зависит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другого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потока</a:t>
            </a:r>
            <a:r>
              <a:rPr lang="en-US" sz="2400">
                <a:latin typeface="Aptos"/>
                <a:cs typeface="Arial"/>
              </a:rPr>
              <a:t>). </a:t>
            </a:r>
            <a:r>
              <a:rPr lang="en-US" sz="2400" err="1">
                <a:latin typeface="Aptos"/>
                <a:cs typeface="Arial"/>
              </a:rPr>
              <a:t>Такое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ожидание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называют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присоединением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потоков</a:t>
            </a:r>
            <a:r>
              <a:rPr lang="en-US" sz="2400" i="1">
                <a:latin typeface="Aptos"/>
                <a:cs typeface="Arial"/>
              </a:rPr>
              <a:t>.</a:t>
            </a:r>
            <a:endParaRPr lang="en-US" sz="2400">
              <a:latin typeface="Aptos"/>
              <a:cs typeface="Arial"/>
            </a:endParaRPr>
          </a:p>
          <a:p>
            <a:r>
              <a:rPr lang="en-US" sz="2400" err="1">
                <a:latin typeface="Aptos"/>
                <a:cs typeface="Arial"/>
              </a:rPr>
              <a:t>Во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время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создания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можно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определить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подлежит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ли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он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присоединению</a:t>
            </a:r>
            <a:r>
              <a:rPr lang="en-US" sz="2400">
                <a:latin typeface="Aptos"/>
                <a:cs typeface="Arial"/>
              </a:rPr>
              <a:t> (</a:t>
            </a:r>
            <a:r>
              <a:rPr lang="en-US" sz="2400" err="1">
                <a:latin typeface="Aptos"/>
                <a:cs typeface="Arial"/>
              </a:rPr>
              <a:t>если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нельзя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присоединить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его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называют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отдельным</a:t>
            </a:r>
            <a:r>
              <a:rPr lang="en-US" sz="2400">
                <a:latin typeface="Aptos"/>
                <a:cs typeface="Arial"/>
              </a:rPr>
              <a:t>). </a:t>
            </a:r>
            <a:r>
              <a:rPr lang="en-US" sz="2400" err="1">
                <a:latin typeface="Aptos"/>
                <a:cs typeface="Arial"/>
              </a:rPr>
              <a:t>Если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не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является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отдельным</a:t>
            </a:r>
            <a:r>
              <a:rPr lang="en-US" sz="2400">
                <a:latin typeface="Aptos"/>
                <a:cs typeface="Arial"/>
              </a:rPr>
              <a:t> (</a:t>
            </a:r>
            <a:r>
              <a:rPr lang="en-US" sz="2400" err="1">
                <a:latin typeface="Aptos"/>
                <a:cs typeface="Arial"/>
              </a:rPr>
              <a:t>присоединенный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), </a:t>
            </a:r>
            <a:r>
              <a:rPr lang="en-US" sz="2400" err="1">
                <a:latin typeface="Aptos"/>
                <a:cs typeface="Arial"/>
              </a:rPr>
              <a:t>после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его</a:t>
            </a:r>
            <a:r>
              <a:rPr lang="en-US" sz="2400">
                <a:latin typeface="Aptos"/>
                <a:cs typeface="Arial"/>
              </a:rPr>
              <a:t> </a:t>
            </a:r>
            <a:r>
              <a:rPr lang="en-US" sz="2400" err="1">
                <a:latin typeface="Aptos"/>
                <a:cs typeface="Arial"/>
              </a:rPr>
              <a:t>завершения</a:t>
            </a:r>
            <a:r>
              <a:rPr lang="en-US" sz="2400">
                <a:latin typeface="Aptos"/>
                <a:cs typeface="Arial"/>
              </a:rPr>
              <a:t>, </a:t>
            </a:r>
            <a:r>
              <a:rPr lang="en-US" sz="2400" err="1">
                <a:latin typeface="Aptos"/>
                <a:cs typeface="Arial"/>
              </a:rPr>
              <a:t>его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обязательно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нужно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присоединять</a:t>
            </a:r>
            <a:r>
              <a:rPr lang="en-US" sz="2400">
                <a:latin typeface="Aptos"/>
                <a:cs typeface="Arial"/>
              </a:rPr>
              <a:t> к </a:t>
            </a:r>
            <a:r>
              <a:rPr lang="en-US" sz="2400" err="1">
                <a:latin typeface="Aptos"/>
                <a:cs typeface="Arial"/>
              </a:rPr>
              <a:t>создавшему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его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потоку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чтобы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избежать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утечки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памяти</a:t>
            </a:r>
            <a:r>
              <a:rPr lang="en-US" sz="2400">
                <a:latin typeface="Aptos"/>
                <a:cs typeface="Arial"/>
              </a:rPr>
              <a:t>.</a:t>
            </a:r>
            <a:endParaRPr lang="en-US" sz="2400">
              <a:latin typeface="Apto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FBADE-4A30-8D8F-700E-E82291CEB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37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BE0ED-2EB4-2E7D-35F1-0A40F7C4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Пример</a:t>
            </a:r>
            <a:r>
              <a:rPr lang="en-US"/>
              <a:t> </a:t>
            </a:r>
            <a:r>
              <a:rPr lang="en-US" err="1"/>
              <a:t>завершения</a:t>
            </a:r>
            <a:r>
              <a:rPr lang="en-US"/>
              <a:t> </a:t>
            </a:r>
            <a:r>
              <a:rPr lang="en-US" err="1"/>
              <a:t>потока</a:t>
            </a:r>
            <a:r>
              <a:rPr lang="en-US"/>
              <a:t> в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97B52-57D2-353F-7685-0F27AC9E0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B7561-9DB6-A1BE-9CD3-8E4E3B875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75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95AFC-F5E1-4688-0B35-D75DD234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178" y="653474"/>
            <a:ext cx="9678613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err="1">
                <a:latin typeface="Aptos Display"/>
                <a:cs typeface="Arial"/>
              </a:rPr>
              <a:t>Примеры</a:t>
            </a:r>
            <a:r>
              <a:rPr lang="en-US">
                <a:latin typeface="Aptos Display"/>
                <a:cs typeface="Arial"/>
              </a:rPr>
              <a:t> </a:t>
            </a:r>
            <a:r>
              <a:rPr lang="en-US" err="1">
                <a:latin typeface="Aptos Display"/>
                <a:cs typeface="Arial"/>
              </a:rPr>
              <a:t>остановки</a:t>
            </a:r>
            <a:r>
              <a:rPr lang="en-US">
                <a:latin typeface="Aptos Display"/>
                <a:cs typeface="Arial"/>
              </a:rPr>
              <a:t> и </a:t>
            </a:r>
            <a:r>
              <a:rPr lang="en-US" err="1">
                <a:latin typeface="Aptos Display"/>
                <a:cs typeface="Arial"/>
              </a:rPr>
              <a:t>возобновления</a:t>
            </a:r>
            <a:r>
              <a:rPr lang="en-US">
                <a:latin typeface="Aptos Display"/>
                <a:cs typeface="Arial"/>
              </a:rPr>
              <a:t> </a:t>
            </a:r>
            <a:r>
              <a:rPr lang="en-US" err="1">
                <a:latin typeface="Aptos Display"/>
                <a:cs typeface="Arial"/>
              </a:rPr>
              <a:t>потоков</a:t>
            </a:r>
            <a:r>
              <a:rPr lang="en-US">
                <a:latin typeface="Aptos Display"/>
                <a:cs typeface="Arial"/>
              </a:rPr>
              <a:t> в Windows</a:t>
            </a:r>
          </a:p>
          <a:p>
            <a:endParaRPr lang="en-US">
              <a:latin typeface="Aptos Display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77FDC-A985-C9B3-9A7C-D5B168D07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7690"/>
            <a:ext cx="10515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77E58-671E-B273-F527-0BE3593D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76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504FC-E29A-BD10-0E81-2B785DD7D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9444"/>
            <a:ext cx="10515600" cy="619860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err="1">
                <a:latin typeface="Aptos"/>
                <a:cs typeface="Arial"/>
              </a:rPr>
              <a:t>Нельзя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определять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порядок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выполнения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потоков</a:t>
            </a:r>
            <a:r>
              <a:rPr lang="en-US" sz="2000">
                <a:latin typeface="Aptos"/>
                <a:cs typeface="Arial"/>
              </a:rPr>
              <a:t>, </a:t>
            </a:r>
            <a:r>
              <a:rPr lang="en-US" sz="2000" err="1">
                <a:latin typeface="Aptos"/>
                <a:cs typeface="Arial"/>
              </a:rPr>
              <a:t>не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позаботившись</a:t>
            </a:r>
            <a:r>
              <a:rPr lang="en-US" sz="2000">
                <a:latin typeface="Aptos"/>
                <a:cs typeface="Arial"/>
              </a:rPr>
              <a:t> о </a:t>
            </a:r>
            <a:r>
              <a:rPr lang="en-US" sz="2000" err="1">
                <a:latin typeface="Aptos"/>
                <a:cs typeface="Arial"/>
              </a:rPr>
              <a:t>его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поддержке</a:t>
            </a:r>
            <a:r>
              <a:rPr lang="en-US" sz="2000">
                <a:latin typeface="Aptos"/>
                <a:cs typeface="Arial"/>
              </a:rPr>
              <a:t>, </a:t>
            </a:r>
            <a:r>
              <a:rPr lang="en-US" sz="2000" err="1">
                <a:latin typeface="Aptos"/>
                <a:cs typeface="Arial"/>
              </a:rPr>
              <a:t>так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как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скорость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выполнения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потоков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зависит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от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многих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факторов</a:t>
            </a:r>
            <a:r>
              <a:rPr lang="en-US" sz="2000">
                <a:latin typeface="Aptos"/>
                <a:cs typeface="Arial"/>
              </a:rPr>
              <a:t>, </a:t>
            </a:r>
            <a:r>
              <a:rPr lang="en-US" sz="2000" err="1">
                <a:latin typeface="Aptos"/>
                <a:cs typeface="Arial"/>
              </a:rPr>
              <a:t>большинство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из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которых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программист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не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контролирует</a:t>
            </a:r>
            <a:r>
              <a:rPr lang="en-US" sz="2000">
                <a:latin typeface="Aptos"/>
                <a:cs typeface="Arial"/>
              </a:rPr>
              <a:t>.</a:t>
            </a:r>
          </a:p>
          <a:p>
            <a:r>
              <a:rPr lang="en-US" sz="2000" err="1">
                <a:latin typeface="Aptos"/>
                <a:cs typeface="Arial"/>
              </a:rPr>
              <a:t>Например</a:t>
            </a:r>
            <a:r>
              <a:rPr lang="en-US" sz="2000">
                <a:latin typeface="Aptos"/>
                <a:cs typeface="Arial"/>
              </a:rPr>
              <a:t>, </a:t>
            </a:r>
            <a:r>
              <a:rPr lang="en-US" sz="2000" err="1">
                <a:latin typeface="Aptos"/>
                <a:cs typeface="Arial"/>
              </a:rPr>
              <a:t>если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запустить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набор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потоков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внутри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функции</a:t>
            </a:r>
            <a:r>
              <a:rPr lang="en-US" sz="2000">
                <a:latin typeface="Aptos"/>
                <a:cs typeface="Arial"/>
              </a:rPr>
              <a:t> f() и </a:t>
            </a:r>
            <a:r>
              <a:rPr lang="en-US" sz="2000" err="1">
                <a:latin typeface="Aptos"/>
                <a:cs typeface="Arial"/>
              </a:rPr>
              <a:t>не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присоединить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все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эти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потоки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до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завершения</a:t>
            </a:r>
            <a:r>
              <a:rPr lang="en-US" sz="2000">
                <a:latin typeface="Aptos"/>
                <a:cs typeface="Arial"/>
              </a:rPr>
              <a:t> f(), </a:t>
            </a:r>
            <a:r>
              <a:rPr lang="en-US" sz="2000" err="1">
                <a:latin typeface="Aptos"/>
                <a:cs typeface="Arial"/>
              </a:rPr>
              <a:t>некоторые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из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них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могут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не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успеть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завершить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свое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выполнение</a:t>
            </a:r>
            <a:r>
              <a:rPr lang="en-US" sz="2000">
                <a:latin typeface="Aptos"/>
                <a:cs typeface="Arial"/>
              </a:rPr>
              <a:t> к </a:t>
            </a:r>
            <a:r>
              <a:rPr lang="en-US" sz="2000" err="1">
                <a:latin typeface="Aptos"/>
                <a:cs typeface="Arial"/>
              </a:rPr>
              <a:t>моменту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выхода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из</a:t>
            </a:r>
            <a:r>
              <a:rPr lang="en-US" sz="2000">
                <a:latin typeface="Aptos"/>
                <a:cs typeface="Arial"/>
              </a:rPr>
              <a:t> f(). </a:t>
            </a:r>
            <a:r>
              <a:rPr lang="en-US" sz="2000" err="1">
                <a:latin typeface="Aptos"/>
                <a:cs typeface="Arial"/>
              </a:rPr>
              <a:t>Возможно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даже</a:t>
            </a:r>
            <a:r>
              <a:rPr lang="en-US" sz="2000">
                <a:latin typeface="Aptos"/>
                <a:cs typeface="Arial"/>
              </a:rPr>
              <a:t>, </a:t>
            </a:r>
            <a:r>
              <a:rPr lang="en-US" sz="2000" err="1">
                <a:latin typeface="Aptos"/>
                <a:cs typeface="Arial"/>
              </a:rPr>
              <a:t>что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часть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потоков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не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завершится</a:t>
            </a:r>
            <a:r>
              <a:rPr lang="en-US" sz="2000">
                <a:latin typeface="Aptos"/>
                <a:cs typeface="Arial"/>
              </a:rPr>
              <a:t> и к </a:t>
            </a:r>
            <a:r>
              <a:rPr lang="en-US" sz="2000" err="1">
                <a:latin typeface="Aptos"/>
                <a:cs typeface="Arial"/>
              </a:rPr>
              <a:t>моменту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следующего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вызова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функции</a:t>
            </a:r>
            <a:r>
              <a:rPr lang="en-US" sz="2000">
                <a:latin typeface="Aptos"/>
                <a:cs typeface="Arial"/>
              </a:rPr>
              <a:t>, </a:t>
            </a:r>
            <a:r>
              <a:rPr lang="en-US" sz="2000" err="1">
                <a:latin typeface="Aptos"/>
                <a:cs typeface="Arial"/>
              </a:rPr>
              <a:t>если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программист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выполнит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его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достаточно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быстро</a:t>
            </a:r>
            <a:r>
              <a:rPr lang="en-US" sz="2000">
                <a:latin typeface="Aptos"/>
                <a:cs typeface="Arial"/>
              </a:rPr>
              <a:t>.</a:t>
            </a:r>
          </a:p>
          <a:p>
            <a:r>
              <a:rPr lang="en-US" sz="2000" err="1">
                <a:latin typeface="Aptos"/>
                <a:cs typeface="Arial"/>
              </a:rPr>
              <a:t>Для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потоков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не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поддерживается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такая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иерархия</a:t>
            </a:r>
            <a:r>
              <a:rPr lang="en-US" sz="2000">
                <a:latin typeface="Aptos"/>
                <a:cs typeface="Arial"/>
              </a:rPr>
              <a:t>, </a:t>
            </a:r>
            <a:r>
              <a:rPr lang="en-US" sz="2000" err="1">
                <a:latin typeface="Aptos"/>
                <a:cs typeface="Arial"/>
              </a:rPr>
              <a:t>как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для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процессов</a:t>
            </a:r>
            <a:r>
              <a:rPr lang="en-US" sz="2000">
                <a:latin typeface="Aptos"/>
                <a:cs typeface="Arial"/>
              </a:rPr>
              <a:t>. </a:t>
            </a:r>
            <a:r>
              <a:rPr lang="en-US" sz="2000" err="1">
                <a:latin typeface="Aptos"/>
                <a:cs typeface="Arial"/>
              </a:rPr>
              <a:t>Поток</a:t>
            </a:r>
            <a:r>
              <a:rPr lang="en-US" sz="2000">
                <a:latin typeface="Aptos"/>
                <a:cs typeface="Arial"/>
              </a:rPr>
              <a:t>, </a:t>
            </a:r>
            <a:r>
              <a:rPr lang="en-US" sz="2000" err="1">
                <a:latin typeface="Aptos"/>
                <a:cs typeface="Arial"/>
              </a:rPr>
              <a:t>который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создал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другой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поток</a:t>
            </a:r>
            <a:r>
              <a:rPr lang="en-US" sz="2000">
                <a:latin typeface="Aptos"/>
                <a:cs typeface="Arial"/>
              </a:rPr>
              <a:t>, </a:t>
            </a:r>
            <a:r>
              <a:rPr lang="en-US" sz="2000" err="1">
                <a:latin typeface="Aptos"/>
                <a:cs typeface="Arial"/>
              </a:rPr>
              <a:t>имеет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равные</a:t>
            </a:r>
            <a:r>
              <a:rPr lang="en-US" sz="2000">
                <a:latin typeface="Aptos"/>
                <a:cs typeface="Arial"/>
              </a:rPr>
              <a:t> с </a:t>
            </a:r>
            <a:r>
              <a:rPr lang="en-US" sz="2000" err="1">
                <a:latin typeface="Aptos"/>
                <a:cs typeface="Arial"/>
              </a:rPr>
              <a:t>ним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права</a:t>
            </a:r>
            <a:r>
              <a:rPr lang="en-US" sz="2000">
                <a:latin typeface="Aptos"/>
                <a:cs typeface="Arial"/>
              </a:rPr>
              <a:t>. </a:t>
            </a:r>
            <a:r>
              <a:rPr lang="en-US" sz="2000" err="1">
                <a:latin typeface="Aptos"/>
                <a:cs typeface="Arial"/>
              </a:rPr>
              <a:t>Нельзя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рассчитывать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на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то</a:t>
            </a:r>
            <a:r>
              <a:rPr lang="en-US" sz="2000">
                <a:latin typeface="Aptos"/>
                <a:cs typeface="Arial"/>
              </a:rPr>
              <a:t>, </a:t>
            </a:r>
            <a:r>
              <a:rPr lang="en-US" sz="2000" err="1">
                <a:latin typeface="Aptos"/>
                <a:cs typeface="Arial"/>
              </a:rPr>
              <a:t>что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такой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поток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сам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будет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продолжать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свое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выполнение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после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завершения</a:t>
            </a:r>
            <a:r>
              <a:rPr lang="en-US" sz="2000">
                <a:latin typeface="Aptos"/>
                <a:cs typeface="Arial"/>
              </a:rPr>
              <a:t> </a:t>
            </a:r>
            <a:r>
              <a:rPr lang="en-US" sz="2000" err="1">
                <a:latin typeface="Aptos"/>
                <a:cs typeface="Arial"/>
              </a:rPr>
              <a:t>потоков-потомков</a:t>
            </a:r>
            <a:r>
              <a:rPr lang="en-US" sz="2000">
                <a:latin typeface="Aptos"/>
                <a:cs typeface="Arial"/>
              </a:rPr>
              <a:t>.</a:t>
            </a:r>
          </a:p>
          <a:p>
            <a:r>
              <a:rPr lang="en-US" sz="2000" err="1">
                <a:latin typeface="Aptos"/>
                <a:cs typeface="Arial"/>
              </a:rPr>
              <a:t>Стек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потока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очищается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после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выхода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из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функции</a:t>
            </a:r>
            <a:r>
              <a:rPr lang="en-US" sz="2000">
                <a:latin typeface="Aptos"/>
                <a:cs typeface="Arial"/>
              </a:rPr>
              <a:t> </a:t>
            </a:r>
            <a:r>
              <a:rPr lang="en-US" sz="2000" err="1">
                <a:latin typeface="Aptos"/>
                <a:cs typeface="Arial"/>
              </a:rPr>
              <a:t>потока</a:t>
            </a:r>
            <a:r>
              <a:rPr lang="en-US" sz="2000">
                <a:latin typeface="Aptos"/>
                <a:cs typeface="Arial"/>
              </a:rPr>
              <a:t>. </a:t>
            </a:r>
            <a:r>
              <a:rPr lang="en-US" sz="2000">
                <a:ea typeface="+mn-lt"/>
                <a:cs typeface="+mn-lt"/>
              </a:rPr>
              <a:t> </a:t>
            </a:r>
            <a:r>
              <a:rPr lang="en-US" sz="2000" err="1">
                <a:ea typeface="+mn-lt"/>
                <a:cs typeface="+mn-lt"/>
              </a:rPr>
              <a:t>Чтобы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предотвратить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это</a:t>
            </a:r>
            <a:r>
              <a:rPr lang="en-US" sz="2000">
                <a:ea typeface="+mn-lt"/>
                <a:cs typeface="+mn-lt"/>
              </a:rPr>
              <a:t> и </a:t>
            </a:r>
            <a:r>
              <a:rPr lang="en-US" sz="2000" err="1">
                <a:ea typeface="+mn-lt"/>
                <a:cs typeface="+mn-lt"/>
              </a:rPr>
              <a:t>сохранить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переменные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для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последующих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вызовов</a:t>
            </a:r>
            <a:r>
              <a:rPr lang="en-US" sz="200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не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следует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передавать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указатели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на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локальные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переменные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потока</a:t>
            </a:r>
            <a:r>
              <a:rPr lang="en-US" sz="2000">
                <a:ea typeface="+mn-lt"/>
                <a:cs typeface="+mn-lt"/>
              </a:rPr>
              <a:t> </a:t>
            </a:r>
            <a:r>
              <a:rPr lang="en-US" sz="2000" err="1">
                <a:ea typeface="+mn-lt"/>
                <a:cs typeface="+mn-lt"/>
              </a:rPr>
              <a:t>другим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потокам</a:t>
            </a:r>
            <a:r>
              <a:rPr lang="en-US" sz="2000">
                <a:ea typeface="+mn-lt"/>
                <a:cs typeface="+mn-lt"/>
              </a:rPr>
              <a:t>. </a:t>
            </a:r>
            <a:r>
              <a:rPr lang="en-US" sz="2000" err="1">
                <a:ea typeface="+mn-lt"/>
                <a:cs typeface="+mn-lt"/>
              </a:rPr>
              <a:t>Если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такие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переменные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нужны</a:t>
            </a:r>
            <a:r>
              <a:rPr lang="en-US" sz="2000">
                <a:ea typeface="+mn-lt"/>
                <a:cs typeface="+mn-lt"/>
              </a:rPr>
              <a:t> в </a:t>
            </a:r>
            <a:r>
              <a:rPr lang="en-US" sz="2000" err="1">
                <a:ea typeface="+mn-lt"/>
                <a:cs typeface="+mn-lt"/>
              </a:rPr>
              <a:t>течение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всего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времени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жизни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потока</a:t>
            </a:r>
            <a:r>
              <a:rPr lang="en-US" sz="200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но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не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должны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быть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видны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другим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потокам</a:t>
            </a:r>
            <a:r>
              <a:rPr lang="en-US" sz="2000">
                <a:ea typeface="+mn-lt"/>
                <a:cs typeface="+mn-lt"/>
              </a:rPr>
              <a:t>, </a:t>
            </a:r>
            <a:r>
              <a:rPr lang="en-US" sz="2000" err="1">
                <a:ea typeface="+mn-lt"/>
                <a:cs typeface="+mn-lt"/>
              </a:rPr>
              <a:t>следует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использовать</a:t>
            </a:r>
            <a:r>
              <a:rPr lang="en-US" sz="2000">
                <a:ea typeface="+mn-lt"/>
                <a:cs typeface="+mn-lt"/>
              </a:rPr>
              <a:t> </a:t>
            </a:r>
            <a:r>
              <a:rPr lang="en-US" sz="2000" err="1">
                <a:ea typeface="+mn-lt"/>
                <a:cs typeface="+mn-lt"/>
              </a:rPr>
              <a:t>локальную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память</a:t>
            </a:r>
            <a:r>
              <a:rPr lang="en-US" sz="200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потока</a:t>
            </a:r>
            <a:r>
              <a:rPr lang="en-US" sz="2000">
                <a:ea typeface="+mn-lt"/>
                <a:cs typeface="+mn-lt"/>
              </a:rPr>
              <a:t> (Thread Local Storage, TLS) —</a:t>
            </a:r>
            <a:r>
              <a:rPr lang="en-US" sz="2000" err="1">
                <a:latin typeface="Aptos"/>
                <a:ea typeface="+mn-lt"/>
                <a:cs typeface="Arial"/>
              </a:rPr>
              <a:t>определенным</a:t>
            </a:r>
            <a:r>
              <a:rPr lang="en-US" sz="2000">
                <a:latin typeface="Aptos"/>
                <a:ea typeface="+mn-lt"/>
                <a:cs typeface="Arial"/>
              </a:rPr>
              <a:t> </a:t>
            </a:r>
            <a:r>
              <a:rPr lang="en-US" sz="2000" err="1">
                <a:latin typeface="Aptos"/>
                <a:ea typeface="+mn-lt"/>
                <a:cs typeface="Arial"/>
              </a:rPr>
              <a:t>образом</a:t>
            </a:r>
            <a:r>
              <a:rPr lang="en-US" sz="2000">
                <a:latin typeface="Aptos"/>
                <a:ea typeface="+mn-lt"/>
                <a:cs typeface="Arial"/>
              </a:rPr>
              <a:t> </a:t>
            </a:r>
            <a:r>
              <a:rPr lang="en-US" sz="2000" err="1">
                <a:latin typeface="Aptos"/>
                <a:ea typeface="+mn-lt"/>
                <a:cs typeface="Arial"/>
              </a:rPr>
              <a:t>организованными</a:t>
            </a:r>
            <a:r>
              <a:rPr lang="en-US" sz="2000">
                <a:latin typeface="Aptos"/>
                <a:ea typeface="+mn-lt"/>
                <a:cs typeface="Arial"/>
              </a:rPr>
              <a:t> </a:t>
            </a:r>
            <a:r>
              <a:rPr lang="en-US" sz="2000" err="1">
                <a:latin typeface="Aptos"/>
                <a:ea typeface="+mn-lt"/>
                <a:cs typeface="Arial"/>
              </a:rPr>
              <a:t>данными</a:t>
            </a:r>
            <a:r>
              <a:rPr lang="en-US" sz="2000">
                <a:latin typeface="Aptos"/>
                <a:ea typeface="+mn-lt"/>
                <a:cs typeface="Arial"/>
              </a:rPr>
              <a:t>, </a:t>
            </a:r>
            <a:r>
              <a:rPr lang="en-US" sz="2000" err="1">
                <a:latin typeface="Aptos"/>
                <a:ea typeface="+mn-lt"/>
                <a:cs typeface="Arial"/>
              </a:rPr>
              <a:t>доступ</a:t>
            </a:r>
            <a:r>
              <a:rPr lang="en-US" sz="2000">
                <a:latin typeface="Aptos"/>
                <a:ea typeface="+mn-lt"/>
                <a:cs typeface="Arial"/>
              </a:rPr>
              <a:t> к </a:t>
            </a:r>
            <a:r>
              <a:rPr lang="en-US" sz="2000" err="1">
                <a:latin typeface="Aptos"/>
                <a:ea typeface="+mn-lt"/>
                <a:cs typeface="Arial"/>
              </a:rPr>
              <a:t>которым</a:t>
            </a:r>
            <a:r>
              <a:rPr lang="en-US" sz="2000">
                <a:latin typeface="Aptos"/>
                <a:ea typeface="+mn-lt"/>
                <a:cs typeface="Arial"/>
              </a:rPr>
              <a:t> </a:t>
            </a:r>
            <a:r>
              <a:rPr lang="en-US" sz="2000" err="1">
                <a:latin typeface="Aptos"/>
                <a:ea typeface="+mn-lt"/>
                <a:cs typeface="Arial"/>
              </a:rPr>
              <a:t>осуществляется</a:t>
            </a:r>
            <a:r>
              <a:rPr lang="en-US" sz="2000">
                <a:latin typeface="Aptos"/>
                <a:ea typeface="+mn-lt"/>
                <a:cs typeface="Arial"/>
              </a:rPr>
              <a:t> с </a:t>
            </a:r>
            <a:r>
              <a:rPr lang="en-US" sz="2000" err="1">
                <a:latin typeface="Aptos"/>
                <a:ea typeface="+mn-lt"/>
                <a:cs typeface="Arial"/>
              </a:rPr>
              <a:t>помощью</a:t>
            </a:r>
            <a:r>
              <a:rPr lang="en-US" sz="2000">
                <a:latin typeface="Aptos"/>
                <a:ea typeface="+mn-lt"/>
                <a:cs typeface="Arial"/>
              </a:rPr>
              <a:t> </a:t>
            </a:r>
            <a:r>
              <a:rPr lang="en-US" sz="2000" err="1">
                <a:latin typeface="Aptos"/>
                <a:ea typeface="+mn-lt"/>
                <a:cs typeface="Arial"/>
              </a:rPr>
              <a:t>специальных</a:t>
            </a:r>
            <a:r>
              <a:rPr lang="en-US" sz="2000">
                <a:latin typeface="Aptos"/>
                <a:ea typeface="+mn-lt"/>
                <a:cs typeface="Arial"/>
              </a:rPr>
              <a:t> </a:t>
            </a:r>
            <a:r>
              <a:rPr lang="en-US" sz="2000" err="1">
                <a:latin typeface="Aptos"/>
                <a:ea typeface="+mn-lt"/>
                <a:cs typeface="Arial"/>
              </a:rPr>
              <a:t>функций</a:t>
            </a:r>
            <a:endParaRPr lang="en-US" sz="2000">
              <a:latin typeface="Aptos"/>
              <a:cs typeface="Arial"/>
            </a:endParaRPr>
          </a:p>
          <a:p>
            <a:endParaRPr lang="en-US" sz="2000">
              <a:latin typeface="Aptos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B1FD0-3662-51F3-8EFA-30A0E732B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12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E5941-ACD6-1D6E-C7E5-BAC0D5D90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Передача</a:t>
            </a:r>
            <a:r>
              <a:rPr lang="en-US"/>
              <a:t> </a:t>
            </a:r>
            <a:r>
              <a:rPr lang="en-US" err="1"/>
              <a:t>управления</a:t>
            </a:r>
            <a:r>
              <a:rPr lang="en-US"/>
              <a:t> </a:t>
            </a:r>
            <a:r>
              <a:rPr lang="en-US" err="1"/>
              <a:t>планировщику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CD0E1-25B9-F26B-0388-6A28F28C4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4320"/>
            <a:ext cx="10699954" cy="443737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600" err="1">
                <a:latin typeface="Aptos"/>
                <a:cs typeface="Arial"/>
              </a:rPr>
              <a:t>Переход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потоков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между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их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состояниями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реализован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на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основе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планирования</a:t>
            </a:r>
            <a:r>
              <a:rPr lang="en-US" sz="2600">
                <a:latin typeface="Aptos"/>
                <a:cs typeface="Arial"/>
              </a:rPr>
              <a:t> </a:t>
            </a:r>
            <a:r>
              <a:rPr lang="en-US" sz="2600" err="1">
                <a:latin typeface="Aptos"/>
                <a:cs typeface="Arial"/>
              </a:rPr>
              <a:t>потоков</a:t>
            </a:r>
            <a:r>
              <a:rPr lang="en-US" sz="2600">
                <a:latin typeface="Aptos"/>
                <a:cs typeface="Arial"/>
              </a:rPr>
              <a:t>.</a:t>
            </a:r>
          </a:p>
          <a:p>
            <a:r>
              <a:rPr lang="en-US" sz="2600" err="1">
                <a:latin typeface="Aptos"/>
                <a:cs typeface="Arial"/>
              </a:rPr>
              <a:t>Во</a:t>
            </a:r>
            <a:r>
              <a:rPr lang="en-US" sz="2600">
                <a:latin typeface="Aptos"/>
                <a:cs typeface="Arial"/>
              </a:rPr>
              <a:t> </a:t>
            </a:r>
            <a:r>
              <a:rPr lang="en-US" sz="2600" err="1">
                <a:latin typeface="Aptos"/>
                <a:cs typeface="Arial"/>
              </a:rPr>
              <a:t>время</a:t>
            </a:r>
            <a:r>
              <a:rPr lang="en-US" sz="2600">
                <a:latin typeface="Aptos"/>
                <a:cs typeface="Arial"/>
              </a:rPr>
              <a:t> </a:t>
            </a:r>
            <a:r>
              <a:rPr lang="en-US" sz="2600" err="1">
                <a:latin typeface="Aptos"/>
                <a:cs typeface="Arial"/>
              </a:rPr>
              <a:t>планирования</a:t>
            </a:r>
            <a:r>
              <a:rPr lang="en-US" sz="2600">
                <a:latin typeface="Aptos"/>
                <a:cs typeface="Arial"/>
              </a:rPr>
              <a:t> </a:t>
            </a:r>
            <a:r>
              <a:rPr lang="en-US" sz="2600" err="1">
                <a:latin typeface="Aptos"/>
                <a:cs typeface="Arial"/>
              </a:rPr>
              <a:t>потоков</a:t>
            </a:r>
            <a:r>
              <a:rPr lang="en-US" sz="2600">
                <a:latin typeface="Aptos"/>
                <a:cs typeface="Arial"/>
              </a:rPr>
              <a:t> </a:t>
            </a:r>
            <a:r>
              <a:rPr lang="en-US" sz="2600" err="1">
                <a:latin typeface="Aptos"/>
                <a:cs typeface="Arial"/>
              </a:rPr>
              <a:t>определяют</a:t>
            </a:r>
            <a:r>
              <a:rPr lang="en-US" sz="2600">
                <a:latin typeface="Aptos"/>
                <a:cs typeface="Arial"/>
              </a:rPr>
              <a:t>, </a:t>
            </a:r>
            <a:r>
              <a:rPr lang="en-US" sz="2600" err="1">
                <a:latin typeface="Aptos"/>
                <a:cs typeface="Arial"/>
              </a:rPr>
              <a:t>какой</a:t>
            </a:r>
            <a:r>
              <a:rPr lang="en-US" sz="2600">
                <a:latin typeface="Aptos"/>
                <a:cs typeface="Arial"/>
              </a:rPr>
              <a:t> </a:t>
            </a:r>
            <a:r>
              <a:rPr lang="en-US" sz="2600" err="1">
                <a:latin typeface="Aptos"/>
                <a:cs typeface="Arial"/>
              </a:rPr>
              <a:t>из</a:t>
            </a:r>
            <a:r>
              <a:rPr lang="en-US" sz="2600">
                <a:latin typeface="Aptos"/>
                <a:cs typeface="Arial"/>
              </a:rPr>
              <a:t> </a:t>
            </a:r>
            <a:r>
              <a:rPr lang="en-US" sz="2600" err="1">
                <a:latin typeface="Aptos"/>
                <a:cs typeface="Arial"/>
              </a:rPr>
              <a:t>готовых</a:t>
            </a:r>
            <a:r>
              <a:rPr lang="en-US" sz="2600">
                <a:latin typeface="Aptos"/>
                <a:cs typeface="Arial"/>
              </a:rPr>
              <a:t> </a:t>
            </a:r>
            <a:r>
              <a:rPr lang="en-US" sz="2600" err="1">
                <a:latin typeface="Aptos"/>
                <a:cs typeface="Arial"/>
              </a:rPr>
              <a:t>потоков</a:t>
            </a:r>
            <a:r>
              <a:rPr lang="en-US" sz="2600">
                <a:latin typeface="Aptos"/>
                <a:cs typeface="Arial"/>
              </a:rPr>
              <a:t> </a:t>
            </a:r>
            <a:r>
              <a:rPr lang="en-US" sz="2600" err="1">
                <a:latin typeface="Aptos"/>
                <a:cs typeface="Arial"/>
              </a:rPr>
              <a:t>нужно</a:t>
            </a:r>
            <a:r>
              <a:rPr lang="en-US" sz="2600">
                <a:latin typeface="Aptos"/>
                <a:cs typeface="Arial"/>
              </a:rPr>
              <a:t> </a:t>
            </a:r>
            <a:r>
              <a:rPr lang="en-US" sz="2600" err="1">
                <a:latin typeface="Aptos"/>
                <a:cs typeface="Arial"/>
              </a:rPr>
              <a:t>выполнять</a:t>
            </a:r>
            <a:r>
              <a:rPr lang="en-US" sz="2600">
                <a:latin typeface="Aptos"/>
                <a:cs typeface="Arial"/>
              </a:rPr>
              <a:t> в </a:t>
            </a:r>
            <a:r>
              <a:rPr lang="en-US" sz="2600" err="1">
                <a:latin typeface="Aptos"/>
                <a:cs typeface="Arial"/>
              </a:rPr>
              <a:t>конкретный</a:t>
            </a:r>
            <a:r>
              <a:rPr lang="en-US" sz="2600">
                <a:latin typeface="Aptos"/>
                <a:cs typeface="Arial"/>
              </a:rPr>
              <a:t> </a:t>
            </a:r>
            <a:r>
              <a:rPr lang="en-US" sz="2600" err="1">
                <a:latin typeface="Aptos"/>
                <a:cs typeface="Arial"/>
              </a:rPr>
              <a:t>момент</a:t>
            </a:r>
            <a:r>
              <a:rPr lang="en-US" sz="2600">
                <a:latin typeface="Aptos"/>
                <a:cs typeface="Arial"/>
              </a:rPr>
              <a:t>; </a:t>
            </a:r>
            <a:r>
              <a:rPr lang="en-US" sz="2600" err="1">
                <a:latin typeface="Aptos"/>
                <a:cs typeface="Arial"/>
              </a:rPr>
              <a:t>когда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нужно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прервать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выполнение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потока</a:t>
            </a:r>
            <a:r>
              <a:rPr lang="en-US" sz="2600">
                <a:latin typeface="Aptos"/>
                <a:cs typeface="Arial"/>
              </a:rPr>
              <a:t>, </a:t>
            </a:r>
            <a:r>
              <a:rPr lang="en-US" sz="2600" err="1">
                <a:latin typeface="Aptos"/>
                <a:cs typeface="Arial"/>
              </a:rPr>
              <a:t>чтобы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переключиться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на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другой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готовый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поток</a:t>
            </a:r>
            <a:r>
              <a:rPr lang="en-US" sz="2600">
                <a:latin typeface="Aptos"/>
                <a:cs typeface="Arial"/>
              </a:rPr>
              <a:t>; </a:t>
            </a:r>
            <a:r>
              <a:rPr lang="en-US" sz="2600" err="1">
                <a:latin typeface="Aptos"/>
                <a:cs typeface="Arial"/>
              </a:rPr>
              <a:t>какой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из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потоков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вернуть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из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состояния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ожидания</a:t>
            </a:r>
            <a:r>
              <a:rPr lang="en-US" sz="2600">
                <a:latin typeface="Aptos"/>
                <a:cs typeface="Arial"/>
              </a:rPr>
              <a:t> в </a:t>
            </a:r>
            <a:r>
              <a:rPr lang="en-US" sz="2600" err="1">
                <a:latin typeface="Aptos"/>
                <a:cs typeface="Arial"/>
              </a:rPr>
              <a:t>состояние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готовности</a:t>
            </a:r>
            <a:r>
              <a:rPr lang="en-US" sz="2600">
                <a:latin typeface="Aptos"/>
                <a:cs typeface="Arial"/>
              </a:rPr>
              <a:t> и т. п., </a:t>
            </a:r>
            <a:r>
              <a:rPr lang="en-US" sz="2600" err="1">
                <a:latin typeface="Aptos"/>
                <a:cs typeface="Arial"/>
              </a:rPr>
              <a:t>т.е</a:t>
            </a:r>
            <a:r>
              <a:rPr lang="en-US" sz="2600">
                <a:latin typeface="Aptos"/>
                <a:cs typeface="Arial"/>
              </a:rPr>
              <a:t>. </a:t>
            </a:r>
            <a:r>
              <a:rPr lang="en-US" sz="2600" err="1">
                <a:latin typeface="Aptos"/>
                <a:cs typeface="Arial"/>
              </a:rPr>
              <a:t>каким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алгоритмом</a:t>
            </a:r>
            <a:r>
              <a:rPr lang="en-US" sz="2600">
                <a:latin typeface="Aptos"/>
                <a:cs typeface="Arial"/>
              </a:rPr>
              <a:t> </a:t>
            </a:r>
            <a:r>
              <a:rPr lang="en-US" sz="2600" err="1">
                <a:latin typeface="Aptos"/>
                <a:cs typeface="Arial"/>
              </a:rPr>
              <a:t>организовать</a:t>
            </a:r>
            <a:r>
              <a:rPr lang="en-US" sz="2600">
                <a:latin typeface="Aptos"/>
                <a:cs typeface="Arial"/>
              </a:rPr>
              <a:t> </a:t>
            </a:r>
            <a:r>
              <a:rPr lang="en-US" sz="2600" err="1">
                <a:latin typeface="Aptos"/>
                <a:cs typeface="Arial"/>
              </a:rPr>
              <a:t>планирование</a:t>
            </a:r>
            <a:r>
              <a:rPr lang="en-US" sz="2600">
                <a:latin typeface="Aptos"/>
                <a:cs typeface="Arial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CE8D9-17A1-2B96-FDAE-AD6CC7A2F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993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83E8F-824E-9E84-1502-FB3F8EA18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291" y="391196"/>
            <a:ext cx="9961418" cy="132556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err="1"/>
              <a:t>Алгоритмы</a:t>
            </a:r>
            <a:r>
              <a:rPr lang="en-US" sz="4000"/>
              <a:t> </a:t>
            </a:r>
            <a:r>
              <a:rPr lang="en-US" sz="4000" err="1"/>
              <a:t>планирования</a:t>
            </a:r>
            <a:br>
              <a:rPr lang="en-US" sz="4000"/>
            </a:br>
            <a:r>
              <a:rPr lang="en-US" sz="4000" err="1"/>
              <a:t>выполнения</a:t>
            </a:r>
            <a:r>
              <a:rPr lang="en-US" sz="4000"/>
              <a:t> </a:t>
            </a:r>
            <a:r>
              <a:rPr lang="en-US" sz="4000" err="1"/>
              <a:t>потоков</a:t>
            </a:r>
            <a:endParaRPr lang="en-US" sz="4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0B451-9CF6-2AF2-0996-8C26E05FC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17</a:t>
            </a:fld>
            <a:endParaRPr lang="en-US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F434B049-B275-9DB1-6E7C-03D529CF9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643" y="1810364"/>
            <a:ext cx="6583005" cy="472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959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54102-7EB4-9CB9-F212-0B94584F5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7262"/>
            <a:ext cx="10515600" cy="58176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500" err="1">
                <a:latin typeface="Aptos"/>
                <a:cs typeface="Arial"/>
              </a:rPr>
              <a:t>Алгоритмы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планирования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можно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разделить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на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два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класса</a:t>
            </a:r>
            <a:r>
              <a:rPr lang="en-US" sz="2500">
                <a:latin typeface="Aptos"/>
                <a:cs typeface="Arial"/>
              </a:rPr>
              <a:t>: </a:t>
            </a:r>
            <a:r>
              <a:rPr lang="en-US" sz="2500" err="1">
                <a:latin typeface="Aptos"/>
                <a:cs typeface="Arial"/>
              </a:rPr>
              <a:t>вытесняющие</a:t>
            </a:r>
            <a:r>
              <a:rPr lang="en-US" sz="2500">
                <a:latin typeface="Aptos"/>
                <a:cs typeface="Arial"/>
              </a:rPr>
              <a:t> и </a:t>
            </a:r>
            <a:r>
              <a:rPr lang="en-US" sz="2500" err="1">
                <a:latin typeface="Aptos"/>
                <a:cs typeface="Arial"/>
              </a:rPr>
              <a:t>невытесняющие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алгоритмы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планирования</a:t>
            </a:r>
            <a:r>
              <a:rPr lang="en-US" sz="2500">
                <a:latin typeface="Aptos"/>
                <a:cs typeface="Arial"/>
              </a:rPr>
              <a:t>.</a:t>
            </a:r>
          </a:p>
          <a:p>
            <a:r>
              <a:rPr lang="en-US" sz="2500" err="1">
                <a:latin typeface="Aptos"/>
                <a:cs typeface="Arial"/>
              </a:rPr>
              <a:t>Невытесняющие</a:t>
            </a:r>
            <a:r>
              <a:rPr lang="en-US" sz="2500">
                <a:latin typeface="Aptos"/>
                <a:cs typeface="Arial"/>
              </a:rPr>
              <a:t> (non-preemptive) </a:t>
            </a:r>
            <a:r>
              <a:rPr lang="en-US" sz="2500" err="1">
                <a:latin typeface="Aptos"/>
                <a:cs typeface="Arial"/>
              </a:rPr>
              <a:t>алгоритмы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основаны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на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том</a:t>
            </a:r>
            <a:r>
              <a:rPr lang="en-US" sz="2500">
                <a:latin typeface="Aptos"/>
                <a:cs typeface="Arial"/>
              </a:rPr>
              <a:t>, </a:t>
            </a:r>
            <a:r>
              <a:rPr lang="en-US" sz="2500" err="1">
                <a:latin typeface="Aptos"/>
                <a:cs typeface="Arial"/>
              </a:rPr>
              <a:t>что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активному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потоку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позволяется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выполняться</a:t>
            </a:r>
            <a:r>
              <a:rPr lang="en-US" sz="2500">
                <a:latin typeface="Aptos"/>
                <a:cs typeface="Arial"/>
              </a:rPr>
              <a:t>, </a:t>
            </a:r>
            <a:r>
              <a:rPr lang="en-US" sz="2500" err="1">
                <a:latin typeface="Aptos"/>
                <a:cs typeface="Arial"/>
              </a:rPr>
              <a:t>пока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он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сам</a:t>
            </a:r>
            <a:r>
              <a:rPr lang="en-US" sz="2500">
                <a:latin typeface="Aptos"/>
                <a:cs typeface="Arial"/>
              </a:rPr>
              <a:t>, </a:t>
            </a:r>
            <a:r>
              <a:rPr lang="en-US" sz="2500" err="1">
                <a:latin typeface="Aptos"/>
                <a:cs typeface="Arial"/>
              </a:rPr>
              <a:t>по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своей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инициативе</a:t>
            </a:r>
            <a:r>
              <a:rPr lang="en-US" sz="2500">
                <a:latin typeface="Aptos"/>
                <a:cs typeface="Arial"/>
              </a:rPr>
              <a:t>, </a:t>
            </a:r>
            <a:r>
              <a:rPr lang="en-US" sz="2500" err="1">
                <a:latin typeface="Aptos"/>
                <a:cs typeface="Arial"/>
              </a:rPr>
              <a:t>не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отдаст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управление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операционной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системе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для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того</a:t>
            </a:r>
            <a:r>
              <a:rPr lang="en-US" sz="2500">
                <a:latin typeface="Aptos"/>
                <a:cs typeface="Arial"/>
              </a:rPr>
              <a:t>, </a:t>
            </a:r>
            <a:r>
              <a:rPr lang="en-US" sz="2500" err="1">
                <a:latin typeface="Aptos"/>
                <a:cs typeface="Arial"/>
              </a:rPr>
              <a:t>чтобы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она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выбрала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из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очереди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готовый</a:t>
            </a:r>
            <a:r>
              <a:rPr lang="en-US" sz="2500">
                <a:latin typeface="Aptos"/>
                <a:cs typeface="Arial"/>
              </a:rPr>
              <a:t> к </a:t>
            </a:r>
            <a:r>
              <a:rPr lang="en-US" sz="2500" err="1">
                <a:latin typeface="Aptos"/>
                <a:cs typeface="Arial"/>
              </a:rPr>
              <a:t>выполнению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поток</a:t>
            </a:r>
            <a:r>
              <a:rPr lang="en-US" sz="2500">
                <a:latin typeface="Aptos"/>
                <a:cs typeface="Arial"/>
              </a:rPr>
              <a:t>.</a:t>
            </a:r>
          </a:p>
          <a:p>
            <a:r>
              <a:rPr lang="en-US" sz="2500" err="1">
                <a:latin typeface="Aptos"/>
                <a:cs typeface="Arial"/>
              </a:rPr>
              <a:t>Вытесняющие</a:t>
            </a:r>
            <a:r>
              <a:rPr lang="en-US" sz="2500">
                <a:latin typeface="Aptos"/>
                <a:cs typeface="Arial"/>
              </a:rPr>
              <a:t> (preemptive) </a:t>
            </a:r>
            <a:r>
              <a:rPr lang="en-US" sz="2500" err="1">
                <a:latin typeface="Aptos"/>
                <a:cs typeface="Arial"/>
              </a:rPr>
              <a:t>алгоритмы</a:t>
            </a:r>
            <a:r>
              <a:rPr lang="en-US" sz="2500">
                <a:latin typeface="Aptos"/>
                <a:cs typeface="Arial"/>
              </a:rPr>
              <a:t> - </a:t>
            </a:r>
            <a:r>
              <a:rPr lang="en-US" sz="2500" err="1">
                <a:latin typeface="Aptos"/>
                <a:cs typeface="Arial"/>
              </a:rPr>
              <a:t>это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такие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способы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планирования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потоков</a:t>
            </a:r>
            <a:r>
              <a:rPr lang="en-US" sz="2500">
                <a:latin typeface="Aptos"/>
                <a:cs typeface="Arial"/>
              </a:rPr>
              <a:t>, в </a:t>
            </a:r>
            <a:r>
              <a:rPr lang="en-US" sz="2500" err="1">
                <a:latin typeface="Aptos"/>
                <a:cs typeface="Arial"/>
              </a:rPr>
              <a:t>которых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решение</a:t>
            </a:r>
            <a:r>
              <a:rPr lang="en-US" sz="2500">
                <a:latin typeface="Aptos"/>
                <a:cs typeface="Arial"/>
              </a:rPr>
              <a:t> о </a:t>
            </a:r>
            <a:r>
              <a:rPr lang="en-US" sz="2500" err="1">
                <a:latin typeface="Aptos"/>
                <a:cs typeface="Arial"/>
              </a:rPr>
              <a:t>переключении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процессора</a:t>
            </a:r>
            <a:r>
              <a:rPr lang="en-US" sz="2500">
                <a:latin typeface="Aptos"/>
                <a:cs typeface="Arial"/>
              </a:rPr>
              <a:t> с </a:t>
            </a:r>
            <a:r>
              <a:rPr lang="en-US" sz="2500" err="1">
                <a:latin typeface="Aptos"/>
                <a:cs typeface="Arial"/>
              </a:rPr>
              <a:t>выполнения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одного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потока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на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выполнение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другого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потока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принимается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операционной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системой</a:t>
            </a:r>
            <a:r>
              <a:rPr lang="en-US" sz="2500">
                <a:latin typeface="Aptos"/>
                <a:cs typeface="Arial"/>
              </a:rPr>
              <a:t>, а </a:t>
            </a:r>
            <a:r>
              <a:rPr lang="en-US" sz="2500" err="1">
                <a:latin typeface="Aptos"/>
                <a:cs typeface="Arial"/>
              </a:rPr>
              <a:t>не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активной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задачей</a:t>
            </a:r>
            <a:r>
              <a:rPr lang="en-US" sz="2500">
                <a:latin typeface="Aptos"/>
                <a:cs typeface="Arial"/>
              </a:rPr>
              <a:t>.</a:t>
            </a:r>
          </a:p>
          <a:p>
            <a:r>
              <a:rPr lang="en-US" sz="2500">
                <a:latin typeface="Aptos"/>
                <a:cs typeface="Arial"/>
              </a:rPr>
              <a:t>В </a:t>
            </a:r>
            <a:r>
              <a:rPr lang="en-US" sz="2500" err="1">
                <a:latin typeface="Aptos"/>
                <a:cs typeface="Arial"/>
              </a:rPr>
              <a:t>первом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случае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механизм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планирования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распределяется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между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операционной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системой</a:t>
            </a:r>
            <a:r>
              <a:rPr lang="en-US" sz="2500">
                <a:latin typeface="Aptos"/>
                <a:cs typeface="Arial"/>
              </a:rPr>
              <a:t> и </a:t>
            </a:r>
            <a:r>
              <a:rPr lang="en-US" sz="2500" err="1">
                <a:latin typeface="Aptos"/>
                <a:cs typeface="Arial"/>
              </a:rPr>
              <a:t>прикладными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программами</a:t>
            </a:r>
            <a:r>
              <a:rPr lang="en-US" sz="2500">
                <a:latin typeface="Aptos"/>
                <a:cs typeface="Arial"/>
              </a:rPr>
              <a:t>. </a:t>
            </a:r>
            <a:r>
              <a:rPr lang="en-US" sz="2500" err="1">
                <a:latin typeface="Aptos"/>
                <a:cs typeface="Arial"/>
              </a:rPr>
              <a:t>Во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втором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случае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функции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планирования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потоков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целиком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сосредоточены</a:t>
            </a:r>
            <a:r>
              <a:rPr lang="en-US" sz="2500">
                <a:latin typeface="Aptos"/>
                <a:cs typeface="Arial"/>
              </a:rPr>
              <a:t> в </a:t>
            </a:r>
            <a:r>
              <a:rPr lang="en-US" sz="2500" err="1">
                <a:latin typeface="Aptos"/>
                <a:cs typeface="Arial"/>
              </a:rPr>
              <a:t>операционной</a:t>
            </a:r>
            <a:r>
              <a:rPr lang="en-US" sz="2500">
                <a:latin typeface="Aptos"/>
                <a:cs typeface="Arial"/>
              </a:rPr>
              <a:t> </a:t>
            </a:r>
            <a:r>
              <a:rPr lang="en-US" sz="2500" err="1">
                <a:latin typeface="Aptos"/>
                <a:cs typeface="Arial"/>
              </a:rPr>
              <a:t>системе</a:t>
            </a:r>
            <a:r>
              <a:rPr lang="en-US" sz="2500">
                <a:latin typeface="Aptos"/>
                <a:cs typeface="Arial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2776D-544D-C4A7-5E23-FE926B60E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59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A180E-B8A6-760B-480D-E0FA5312A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4807"/>
            <a:ext cx="10515600" cy="570215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600"/>
              <a:t>В </a:t>
            </a:r>
            <a:r>
              <a:rPr lang="en-US" sz="2600" err="1"/>
              <a:t>большинстве</a:t>
            </a:r>
            <a:r>
              <a:rPr lang="en-US" sz="2600"/>
              <a:t> </a:t>
            </a:r>
            <a:r>
              <a:rPr lang="en-US" sz="2600" err="1"/>
              <a:t>современных</a:t>
            </a:r>
            <a:r>
              <a:rPr lang="en-US" sz="2600"/>
              <a:t> ОС </a:t>
            </a:r>
            <a:r>
              <a:rPr lang="en-US" sz="2600" err="1">
                <a:ea typeface="+mn-lt"/>
                <a:cs typeface="+mn-lt"/>
              </a:rPr>
              <a:t>реализованы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вытесняющие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алгоритмы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планирования</a:t>
            </a:r>
            <a:r>
              <a:rPr lang="en-US" sz="2600">
                <a:ea typeface="+mn-lt"/>
                <a:cs typeface="+mn-lt"/>
              </a:rPr>
              <a:t>.  В </a:t>
            </a:r>
            <a:r>
              <a:rPr lang="en-US" sz="2600" err="1">
                <a:ea typeface="+mn-lt"/>
                <a:cs typeface="+mn-lt"/>
              </a:rPr>
              <a:t>основе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многих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таких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алгоритмов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лежит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концепция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квантования</a:t>
            </a:r>
            <a:r>
              <a:rPr lang="en-US" sz="2600">
                <a:ea typeface="+mn-lt"/>
                <a:cs typeface="+mn-lt"/>
              </a:rPr>
              <a:t>. В </a:t>
            </a:r>
            <a:r>
              <a:rPr lang="en-US" sz="2600" err="1">
                <a:ea typeface="+mn-lt"/>
                <a:cs typeface="+mn-lt"/>
              </a:rPr>
              <a:t>соответствии</a:t>
            </a:r>
            <a:r>
              <a:rPr lang="en-US" sz="2600">
                <a:ea typeface="+mn-lt"/>
                <a:cs typeface="+mn-lt"/>
              </a:rPr>
              <a:t> с </a:t>
            </a:r>
            <a:r>
              <a:rPr lang="en-US" sz="2600" err="1">
                <a:ea typeface="+mn-lt"/>
                <a:cs typeface="+mn-lt"/>
              </a:rPr>
              <a:t>ней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каждому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потоку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поочередно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для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выполнения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предоставляется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ограниченный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непрерывный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период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процессорного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времени</a:t>
            </a:r>
            <a:r>
              <a:rPr lang="en-US" sz="2600">
                <a:ea typeface="+mn-lt"/>
                <a:cs typeface="+mn-lt"/>
              </a:rPr>
              <a:t> – </a:t>
            </a:r>
            <a:r>
              <a:rPr lang="en-US" sz="2600" err="1">
                <a:ea typeface="+mn-lt"/>
                <a:cs typeface="+mn-lt"/>
              </a:rPr>
              <a:t>квант</a:t>
            </a:r>
            <a:r>
              <a:rPr lang="en-US" sz="2600">
                <a:ea typeface="+mn-lt"/>
                <a:cs typeface="+mn-lt"/>
              </a:rPr>
              <a:t>.</a:t>
            </a:r>
          </a:p>
          <a:p>
            <a:endParaRPr lang="en-US" sz="2600"/>
          </a:p>
          <a:p>
            <a:pPr marL="0" indent="0">
              <a:buNone/>
            </a:pPr>
            <a:r>
              <a:rPr lang="en-US" sz="2600" err="1">
                <a:ea typeface="+mn-lt"/>
                <a:cs typeface="+mn-lt"/>
              </a:rPr>
              <a:t>Смена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активного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потока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происходит</a:t>
            </a:r>
            <a:r>
              <a:rPr lang="en-US" sz="2600">
                <a:ea typeface="+mn-lt"/>
                <a:cs typeface="+mn-lt"/>
              </a:rPr>
              <a:t>, </a:t>
            </a:r>
            <a:r>
              <a:rPr lang="en-US" sz="2600" err="1">
                <a:ea typeface="+mn-lt"/>
                <a:cs typeface="+mn-lt"/>
              </a:rPr>
              <a:t>если</a:t>
            </a:r>
            <a:r>
              <a:rPr lang="en-US" sz="2600">
                <a:ea typeface="+mn-lt"/>
                <a:cs typeface="+mn-lt"/>
              </a:rPr>
              <a:t>:</a:t>
            </a:r>
          </a:p>
          <a:p>
            <a:r>
              <a:rPr lang="en-US" sz="2600" err="1">
                <a:ea typeface="+mn-lt"/>
                <a:cs typeface="+mn-lt"/>
              </a:rPr>
              <a:t>поток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завершился</a:t>
            </a:r>
            <a:r>
              <a:rPr lang="en-US" sz="2600">
                <a:ea typeface="+mn-lt"/>
                <a:cs typeface="+mn-lt"/>
              </a:rPr>
              <a:t>;</a:t>
            </a:r>
          </a:p>
          <a:p>
            <a:r>
              <a:rPr lang="en-US" sz="2600" err="1">
                <a:ea typeface="+mn-lt"/>
                <a:cs typeface="+mn-lt"/>
              </a:rPr>
              <a:t>произошла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ошибка</a:t>
            </a:r>
            <a:r>
              <a:rPr lang="en-US" sz="2600">
                <a:ea typeface="+mn-lt"/>
                <a:cs typeface="+mn-lt"/>
              </a:rPr>
              <a:t>;</a:t>
            </a:r>
          </a:p>
          <a:p>
            <a:r>
              <a:rPr lang="en-US" sz="2600" err="1">
                <a:ea typeface="+mn-lt"/>
                <a:cs typeface="+mn-lt"/>
              </a:rPr>
              <a:t>поток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перешел</a:t>
            </a:r>
            <a:r>
              <a:rPr lang="en-US" sz="2600">
                <a:ea typeface="+mn-lt"/>
                <a:cs typeface="+mn-lt"/>
              </a:rPr>
              <a:t> в </a:t>
            </a:r>
            <a:r>
              <a:rPr lang="en-US" sz="2600" err="1">
                <a:ea typeface="+mn-lt"/>
                <a:cs typeface="+mn-lt"/>
              </a:rPr>
              <a:t>состояние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ожидания</a:t>
            </a:r>
            <a:r>
              <a:rPr lang="en-US" sz="2600">
                <a:ea typeface="+mn-lt"/>
                <a:cs typeface="+mn-lt"/>
              </a:rPr>
              <a:t>;</a:t>
            </a:r>
          </a:p>
          <a:p>
            <a:r>
              <a:rPr lang="en-US" sz="2600" err="1">
                <a:ea typeface="+mn-lt"/>
                <a:cs typeface="+mn-lt"/>
              </a:rPr>
              <a:t>исчерпан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квант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времени</a:t>
            </a:r>
            <a:r>
              <a:rPr lang="en-US" sz="2600">
                <a:ea typeface="+mn-lt"/>
                <a:cs typeface="+mn-lt"/>
              </a:rPr>
              <a:t>, </a:t>
            </a:r>
            <a:r>
              <a:rPr lang="en-US" sz="2600" err="1">
                <a:ea typeface="+mn-lt"/>
                <a:cs typeface="+mn-lt"/>
              </a:rPr>
              <a:t>отведенный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данному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потоку</a:t>
            </a:r>
            <a:r>
              <a:rPr lang="en-US" sz="2600">
                <a:ea typeface="+mn-lt"/>
                <a:cs typeface="+mn-lt"/>
              </a:rPr>
              <a:t> (</a:t>
            </a:r>
            <a:r>
              <a:rPr lang="en-US" sz="2600" err="1">
                <a:ea typeface="+mn-lt"/>
                <a:cs typeface="+mn-lt"/>
              </a:rPr>
              <a:t>поток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переходит</a:t>
            </a:r>
            <a:r>
              <a:rPr lang="en-US" sz="2600">
                <a:ea typeface="+mn-lt"/>
                <a:cs typeface="+mn-lt"/>
              </a:rPr>
              <a:t> в </a:t>
            </a:r>
            <a:r>
              <a:rPr lang="en-US" sz="2600" err="1">
                <a:ea typeface="+mn-lt"/>
                <a:cs typeface="+mn-lt"/>
              </a:rPr>
              <a:t>состояние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готовности</a:t>
            </a:r>
            <a:r>
              <a:rPr lang="en-US" sz="2600">
                <a:ea typeface="+mn-lt"/>
                <a:cs typeface="+mn-lt"/>
              </a:rPr>
              <a:t> и </a:t>
            </a:r>
            <a:r>
              <a:rPr lang="en-US" sz="2600" err="1">
                <a:ea typeface="+mn-lt"/>
                <a:cs typeface="+mn-lt"/>
              </a:rPr>
              <a:t>ожидает</a:t>
            </a:r>
            <a:r>
              <a:rPr lang="en-US" sz="2600">
                <a:ea typeface="+mn-lt"/>
                <a:cs typeface="+mn-lt"/>
              </a:rPr>
              <a:t> </a:t>
            </a:r>
            <a:r>
              <a:rPr lang="en-US" sz="2600" err="1">
                <a:ea typeface="+mn-lt"/>
                <a:cs typeface="+mn-lt"/>
              </a:rPr>
              <a:t>огда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ему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будет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предоставлен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новый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квант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процессорного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времени</a:t>
            </a:r>
            <a:r>
              <a:rPr lang="en-US" sz="2600">
                <a:ea typeface="+mn-lt"/>
                <a:cs typeface="+mn-lt"/>
              </a:rPr>
              <a:t>)</a:t>
            </a:r>
            <a:endParaRPr lang="en-US" sz="2600"/>
          </a:p>
          <a:p>
            <a:endParaRPr lang="en-US" sz="2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A9332-6CEB-AC25-1D86-F2C0B44E0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07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7AF43-40DC-B270-54C8-C3F570DD1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9444"/>
            <a:ext cx="10515600" cy="5840701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err="1">
                <a:ea typeface="+mn-lt"/>
                <a:cs typeface="+mn-lt"/>
              </a:rPr>
              <a:t>Особенности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алгоритмов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основанных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квантовании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514350" indent="-514350">
              <a:buAutoNum type="arabicParenR"/>
            </a:pPr>
            <a:r>
              <a:rPr lang="en-US" err="1">
                <a:ea typeface="+mn-lt"/>
                <a:cs typeface="+mn-lt"/>
              </a:rPr>
              <a:t>Переключение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контекстов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потоков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связано</a:t>
            </a:r>
            <a:r>
              <a:rPr lang="en-US">
                <a:ea typeface="+mn-lt"/>
                <a:cs typeface="+mn-lt"/>
              </a:rPr>
              <a:t> с </a:t>
            </a:r>
            <a:r>
              <a:rPr lang="en-US" err="1">
                <a:ea typeface="+mn-lt"/>
                <a:cs typeface="+mn-lt"/>
              </a:rPr>
              <a:t>потерями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процессорного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времени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которые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зависят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от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частоты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переключения</a:t>
            </a:r>
            <a:r>
              <a:rPr lang="en-US">
                <a:ea typeface="+mn-lt"/>
                <a:cs typeface="+mn-lt"/>
              </a:rPr>
              <a:t>, т. е. </a:t>
            </a:r>
            <a:r>
              <a:rPr lang="en-US" err="1">
                <a:ea typeface="+mn-lt"/>
                <a:cs typeface="+mn-lt"/>
              </a:rPr>
              <a:t>чем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больше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квант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тем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меньше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суммарные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затраты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процессорного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времени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переключение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потоков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marL="514350" indent="-514350">
              <a:buAutoNum type="arabicParenR"/>
            </a:pPr>
            <a:r>
              <a:rPr lang="en-US">
                <a:ea typeface="+mn-lt"/>
                <a:cs typeface="+mn-lt"/>
              </a:rPr>
              <a:t>С </a:t>
            </a:r>
            <a:r>
              <a:rPr lang="en-US" err="1">
                <a:ea typeface="+mn-lt"/>
                <a:cs typeface="+mn-lt"/>
              </a:rPr>
              <a:t>увеличением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кванта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может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быть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ухудшено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качество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обслуживания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пользователей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связанное</a:t>
            </a:r>
            <a:r>
              <a:rPr lang="en-US">
                <a:ea typeface="+mn-lt"/>
                <a:cs typeface="+mn-lt"/>
              </a:rPr>
              <a:t> с </a:t>
            </a:r>
            <a:r>
              <a:rPr lang="en-US" err="1">
                <a:ea typeface="+mn-lt"/>
                <a:cs typeface="+mn-lt"/>
              </a:rPr>
              <a:t>ростом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времени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реакции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системы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marL="514350" indent="-514350">
              <a:buAutoNum type="arabicParenR"/>
            </a:pPr>
            <a:r>
              <a:rPr lang="en-US">
                <a:ea typeface="+mn-lt"/>
                <a:cs typeface="+mn-lt"/>
              </a:rPr>
              <a:t>В </a:t>
            </a:r>
            <a:r>
              <a:rPr lang="en-US" err="1">
                <a:ea typeface="+mn-lt"/>
                <a:cs typeface="+mn-lt"/>
              </a:rPr>
              <a:t>алгоритмах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основанных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квантовании</a:t>
            </a:r>
            <a:r>
              <a:rPr lang="en-US">
                <a:ea typeface="+mn-lt"/>
                <a:cs typeface="+mn-lt"/>
              </a:rPr>
              <a:t>, ОС </a:t>
            </a:r>
            <a:r>
              <a:rPr lang="en-US" err="1">
                <a:ea typeface="+mn-lt"/>
                <a:cs typeface="+mn-lt"/>
              </a:rPr>
              <a:t>не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имеет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никаких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сведений</a:t>
            </a:r>
            <a:r>
              <a:rPr lang="en-US">
                <a:ea typeface="+mn-lt"/>
                <a:cs typeface="+mn-lt"/>
              </a:rPr>
              <a:t> о </a:t>
            </a:r>
            <a:r>
              <a:rPr lang="en-US" err="1">
                <a:ea typeface="+mn-lt"/>
                <a:cs typeface="+mn-lt"/>
              </a:rPr>
              <a:t>решаемых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задачах</a:t>
            </a:r>
            <a:r>
              <a:rPr lang="en-US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длинные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или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короткие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интенсивен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ввод-вывод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или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нет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важно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быстрое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выполнение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или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нет</a:t>
            </a:r>
            <a:r>
              <a:rPr lang="en-US">
                <a:ea typeface="+mn-lt"/>
                <a:cs typeface="+mn-lt"/>
              </a:rPr>
              <a:t> и т. п.). </a:t>
            </a:r>
            <a:r>
              <a:rPr lang="en-US" err="1">
                <a:ea typeface="+mn-lt"/>
                <a:cs typeface="+mn-lt"/>
              </a:rPr>
              <a:t>Работа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системы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при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квантовании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базируется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на</a:t>
            </a:r>
            <a:r>
              <a:rPr lang="en-US">
                <a:ea typeface="+mn-lt"/>
                <a:cs typeface="+mn-lt"/>
              </a:rPr>
              <a:t> «</a:t>
            </a:r>
            <a:r>
              <a:rPr lang="en-US" err="1">
                <a:ea typeface="+mn-lt"/>
                <a:cs typeface="+mn-lt"/>
              </a:rPr>
              <a:t>истории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существования</a:t>
            </a:r>
            <a:r>
              <a:rPr lang="en-US">
                <a:ea typeface="+mn-lt"/>
                <a:cs typeface="+mn-lt"/>
              </a:rPr>
              <a:t>» </a:t>
            </a:r>
            <a:r>
              <a:rPr lang="en-US" err="1">
                <a:ea typeface="+mn-lt"/>
                <a:cs typeface="+mn-lt"/>
              </a:rPr>
              <a:t>потока</a:t>
            </a:r>
            <a:r>
              <a:rPr lang="en-US">
                <a:ea typeface="+mn-lt"/>
                <a:cs typeface="+mn-lt"/>
              </a:rPr>
              <a:t> в </a:t>
            </a:r>
            <a:r>
              <a:rPr lang="en-US" err="1">
                <a:ea typeface="+mn-lt"/>
                <a:cs typeface="+mn-lt"/>
              </a:rPr>
              <a:t>системе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0FA2D-AF0A-7123-8431-7089EC15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603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92E69-351C-B877-AA56-942A2B84D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8625"/>
            <a:ext cx="10515600" cy="59446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err="1">
                <a:ea typeface="+mn-lt"/>
                <a:cs typeface="+mn-lt"/>
              </a:rPr>
              <a:t>Важной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концепцией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лежащей</a:t>
            </a:r>
            <a:r>
              <a:rPr lang="en-US" sz="2400">
                <a:ea typeface="+mn-lt"/>
                <a:cs typeface="+mn-lt"/>
              </a:rPr>
              <a:t> в </a:t>
            </a:r>
            <a:r>
              <a:rPr lang="en-US" sz="2400" err="1">
                <a:ea typeface="+mn-lt"/>
                <a:cs typeface="+mn-lt"/>
              </a:rPr>
              <a:t>основе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многих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вытесняющих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алгоритмов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планиро­вания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является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приоритетное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обслуживание</a:t>
            </a:r>
            <a:r>
              <a:rPr lang="en-US" sz="2400">
                <a:ea typeface="+mn-lt"/>
                <a:cs typeface="+mn-lt"/>
              </a:rPr>
              <a:t>. </a:t>
            </a:r>
            <a:r>
              <a:rPr lang="en-US" sz="2400" err="1">
                <a:ea typeface="+mn-lt"/>
                <a:cs typeface="+mn-lt"/>
              </a:rPr>
              <a:t>Оно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предполагает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наличие</a:t>
            </a:r>
            <a:r>
              <a:rPr lang="en-US" sz="2400">
                <a:ea typeface="+mn-lt"/>
                <a:cs typeface="+mn-lt"/>
              </a:rPr>
              <a:t> у </a:t>
            </a:r>
            <a:r>
              <a:rPr lang="en-US" sz="2400" err="1">
                <a:ea typeface="+mn-lt"/>
                <a:cs typeface="+mn-lt"/>
              </a:rPr>
              <a:t>потоков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не­которой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изначально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известной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характеристики</a:t>
            </a:r>
            <a:r>
              <a:rPr lang="en-US" sz="2400">
                <a:ea typeface="+mn-lt"/>
                <a:cs typeface="+mn-lt"/>
              </a:rPr>
              <a:t> - </a:t>
            </a:r>
            <a:r>
              <a:rPr lang="en-US" sz="2400" err="1">
                <a:ea typeface="+mn-lt"/>
                <a:cs typeface="+mn-lt"/>
              </a:rPr>
              <a:t>приоритета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на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основании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которого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определяется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порядок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выполнения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потоков</a:t>
            </a:r>
            <a:r>
              <a:rPr lang="en-US" sz="2400">
                <a:ea typeface="+mn-lt"/>
                <a:cs typeface="+mn-lt"/>
              </a:rPr>
              <a:t>. </a:t>
            </a:r>
            <a:r>
              <a:rPr lang="en-US" sz="2400" err="1">
                <a:ea typeface="+mn-lt"/>
                <a:cs typeface="+mn-lt"/>
              </a:rPr>
              <a:t>Чем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выше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приоритет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тем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выше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привилегии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потока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тем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меньше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времени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поток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находится</a:t>
            </a:r>
            <a:r>
              <a:rPr lang="en-US" sz="2400">
                <a:ea typeface="+mn-lt"/>
                <a:cs typeface="+mn-lt"/>
              </a:rPr>
              <a:t> в </a:t>
            </a:r>
            <a:r>
              <a:rPr lang="en-US" sz="2400" err="1">
                <a:ea typeface="+mn-lt"/>
                <a:cs typeface="+mn-lt"/>
              </a:rPr>
              <a:t>очередях</a:t>
            </a:r>
            <a:r>
              <a:rPr lang="en-US" sz="2400">
                <a:ea typeface="+mn-lt"/>
                <a:cs typeface="+mn-lt"/>
              </a:rPr>
              <a:t>. </a:t>
            </a:r>
            <a:r>
              <a:rPr lang="en-US" sz="2400" err="1">
                <a:ea typeface="+mn-lt"/>
                <a:cs typeface="+mn-lt"/>
              </a:rPr>
              <a:t>Приоритет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задается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числом</a:t>
            </a:r>
            <a:r>
              <a:rPr lang="en-US" sz="2400">
                <a:ea typeface="+mn-lt"/>
                <a:cs typeface="+mn-lt"/>
              </a:rPr>
              <a:t>.</a:t>
            </a:r>
          </a:p>
          <a:p>
            <a:r>
              <a:rPr lang="en-US" sz="2400">
                <a:ea typeface="+mn-lt"/>
                <a:cs typeface="+mn-lt"/>
              </a:rPr>
              <a:t>В </a:t>
            </a:r>
            <a:r>
              <a:rPr lang="en-US" sz="2400" err="1">
                <a:ea typeface="+mn-lt"/>
                <a:cs typeface="+mn-lt"/>
              </a:rPr>
              <a:t>большинстве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операционных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систем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поддерживающих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потоки</a:t>
            </a:r>
            <a:r>
              <a:rPr lang="en-US" sz="2400">
                <a:ea typeface="+mn-lt"/>
                <a:cs typeface="+mn-lt"/>
              </a:rPr>
              <a:t>  (в </a:t>
            </a:r>
            <a:r>
              <a:rPr lang="en-US" sz="2400" err="1">
                <a:ea typeface="+mn-lt"/>
                <a:cs typeface="+mn-lt"/>
              </a:rPr>
              <a:t>том</a:t>
            </a:r>
            <a:r>
              <a:rPr lang="en-US" sz="2400">
                <a:ea typeface="+mn-lt"/>
                <a:cs typeface="+mn-lt"/>
              </a:rPr>
              <a:t> </a:t>
            </a:r>
            <a:r>
              <a:rPr lang="en-US" sz="2400" err="1">
                <a:ea typeface="+mn-lt"/>
                <a:cs typeface="+mn-lt"/>
              </a:rPr>
              <a:t>числе</a:t>
            </a:r>
            <a:r>
              <a:rPr lang="en-US" sz="2400">
                <a:ea typeface="+mn-lt"/>
                <a:cs typeface="+mn-lt"/>
              </a:rPr>
              <a:t> в Windows), </a:t>
            </a:r>
            <a:r>
              <a:rPr lang="en-US" sz="2400" err="1">
                <a:ea typeface="+mn-lt"/>
                <a:cs typeface="+mn-lt"/>
              </a:rPr>
              <a:t>приоритет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потока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связан</a:t>
            </a:r>
            <a:r>
              <a:rPr lang="en-US" sz="2400">
                <a:ea typeface="+mn-lt"/>
                <a:cs typeface="+mn-lt"/>
              </a:rPr>
              <a:t> с </a:t>
            </a:r>
            <a:r>
              <a:rPr lang="en-US" sz="2400" err="1">
                <a:ea typeface="+mn-lt"/>
                <a:cs typeface="+mn-lt"/>
              </a:rPr>
              <a:t>приоритетом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процесса</a:t>
            </a:r>
            <a:r>
              <a:rPr lang="en-US" sz="2400">
                <a:ea typeface="+mn-lt"/>
                <a:cs typeface="+mn-lt"/>
              </a:rPr>
              <a:t>, в </a:t>
            </a:r>
            <a:r>
              <a:rPr lang="en-US" sz="2400" err="1">
                <a:ea typeface="+mn-lt"/>
                <a:cs typeface="+mn-lt"/>
              </a:rPr>
              <a:t>рамках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которого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выполняется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поток</a:t>
            </a:r>
            <a:r>
              <a:rPr lang="en-US" sz="2400">
                <a:ea typeface="+mn-lt"/>
                <a:cs typeface="+mn-lt"/>
              </a:rPr>
              <a:t>. </a:t>
            </a:r>
            <a:r>
              <a:rPr lang="en-US" sz="2400" err="1">
                <a:ea typeface="+mn-lt"/>
                <a:cs typeface="+mn-lt"/>
              </a:rPr>
              <a:t>Приоритет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процесса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назначается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операционной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системой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его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создании</a:t>
            </a:r>
            <a:r>
              <a:rPr lang="en-US" sz="2400">
                <a:ea typeface="+mn-lt"/>
                <a:cs typeface="+mn-lt"/>
              </a:rPr>
              <a:t>.</a:t>
            </a:r>
          </a:p>
          <a:p>
            <a:r>
              <a:rPr lang="en-US" sz="2400" err="1">
                <a:ea typeface="+mn-lt"/>
                <a:cs typeface="+mn-lt"/>
              </a:rPr>
              <a:t>При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назначении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приоритетов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вновь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созданному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процессу</a:t>
            </a:r>
            <a:r>
              <a:rPr lang="en-US" sz="2400">
                <a:ea typeface="+mn-lt"/>
                <a:cs typeface="+mn-lt"/>
              </a:rPr>
              <a:t> ОС </a:t>
            </a:r>
            <a:r>
              <a:rPr lang="en-US" sz="2400" err="1">
                <a:ea typeface="+mn-lt"/>
                <a:cs typeface="+mn-lt"/>
              </a:rPr>
              <a:t>учитывается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является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ли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этот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процесс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системным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или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прикладным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каков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статус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пользователя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запустившего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его</a:t>
            </a:r>
            <a:r>
              <a:rPr lang="en-US" sz="2400">
                <a:ea typeface="+mn-lt"/>
                <a:cs typeface="+mn-lt"/>
              </a:rPr>
              <a:t> (</a:t>
            </a:r>
            <a:r>
              <a:rPr lang="en-US" sz="2400" err="1">
                <a:ea typeface="+mn-lt"/>
                <a:cs typeface="+mn-lt"/>
              </a:rPr>
              <a:t>администратор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пользователь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часть</a:t>
            </a:r>
            <a:r>
              <a:rPr lang="en-US" sz="2400">
                <a:ea typeface="+mn-lt"/>
                <a:cs typeface="+mn-lt"/>
              </a:rPr>
              <a:t> и т. п.), </a:t>
            </a:r>
            <a:r>
              <a:rPr lang="en-US" sz="2400" err="1">
                <a:ea typeface="+mn-lt"/>
                <a:cs typeface="+mn-lt"/>
              </a:rPr>
              <a:t>было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ли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явное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указание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пользователя</a:t>
            </a:r>
            <a:r>
              <a:rPr lang="en-US" sz="2400">
                <a:ea typeface="+mn-lt"/>
                <a:cs typeface="+mn-lt"/>
              </a:rPr>
              <a:t> о </a:t>
            </a:r>
            <a:r>
              <a:rPr lang="en-US" sz="2400" err="1">
                <a:ea typeface="+mn-lt"/>
                <a:cs typeface="+mn-lt"/>
              </a:rPr>
              <a:t>присвоении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процессу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определенного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уровня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приоритета</a:t>
            </a:r>
            <a:r>
              <a:rPr lang="en-US" sz="2400">
                <a:ea typeface="+mn-lt"/>
                <a:cs typeface="+mn-lt"/>
              </a:rPr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5DA76-A523-C293-7DBA-721DD12DC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56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31A29-0919-4FDB-0E3B-50BE2B082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5625"/>
            <a:ext cx="10515600" cy="5748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err="1">
                <a:ea typeface="+mn-lt"/>
                <a:cs typeface="+mn-lt"/>
              </a:rPr>
              <a:t>Поток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может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быть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инициирован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только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команде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пользователя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но</a:t>
            </a:r>
            <a:r>
              <a:rPr lang="en-US" sz="2400">
                <a:ea typeface="+mn-lt"/>
                <a:cs typeface="+mn-lt"/>
              </a:rPr>
              <a:t> и в </a:t>
            </a:r>
            <a:r>
              <a:rPr lang="en-US" sz="2400" err="1">
                <a:ea typeface="+mn-lt"/>
                <a:cs typeface="+mn-lt"/>
              </a:rPr>
              <a:t>результате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выполнения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системного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вызова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другим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потоком</a:t>
            </a:r>
            <a:r>
              <a:rPr lang="en-US" sz="2400">
                <a:ea typeface="+mn-lt"/>
                <a:cs typeface="+mn-lt"/>
              </a:rPr>
              <a:t>. В </a:t>
            </a:r>
            <a:r>
              <a:rPr lang="en-US" sz="2400" err="1">
                <a:ea typeface="+mn-lt"/>
                <a:cs typeface="+mn-lt"/>
              </a:rPr>
              <a:t>этом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случае</a:t>
            </a:r>
            <a:r>
              <a:rPr lang="en-US" sz="2400">
                <a:ea typeface="+mn-lt"/>
                <a:cs typeface="+mn-lt"/>
              </a:rPr>
              <a:t> ОС </a:t>
            </a:r>
            <a:r>
              <a:rPr lang="en-US" sz="2400" err="1">
                <a:ea typeface="+mn-lt"/>
                <a:cs typeface="+mn-lt"/>
              </a:rPr>
              <a:t>учитывает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значения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параметров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системного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вызова</a:t>
            </a:r>
            <a:r>
              <a:rPr lang="en-US" sz="2400">
                <a:ea typeface="+mn-lt"/>
                <a:cs typeface="+mn-lt"/>
              </a:rPr>
              <a:t>.</a:t>
            </a:r>
          </a:p>
          <a:p>
            <a:r>
              <a:rPr lang="en-US" sz="2400" err="1">
                <a:ea typeface="+mn-lt"/>
                <a:cs typeface="+mn-lt"/>
              </a:rPr>
              <a:t>Изменения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приоритета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могут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происходить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инициативе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самого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потока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когда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он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обращается</a:t>
            </a:r>
            <a:r>
              <a:rPr lang="en-US" sz="2400">
                <a:ea typeface="+mn-lt"/>
                <a:cs typeface="+mn-lt"/>
              </a:rPr>
              <a:t> с </a:t>
            </a:r>
            <a:r>
              <a:rPr lang="en-US" sz="2400" err="1">
                <a:ea typeface="+mn-lt"/>
                <a:cs typeface="+mn-lt"/>
              </a:rPr>
              <a:t>соответствующим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вызовом</a:t>
            </a:r>
            <a:r>
              <a:rPr lang="en-US" sz="2400">
                <a:ea typeface="+mn-lt"/>
                <a:cs typeface="+mn-lt"/>
              </a:rPr>
              <a:t> к ОС, </a:t>
            </a:r>
            <a:r>
              <a:rPr lang="en-US" sz="2400" err="1">
                <a:ea typeface="+mn-lt"/>
                <a:cs typeface="+mn-lt"/>
              </a:rPr>
              <a:t>или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инициативе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пользователя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когда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он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выполняет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соответствующую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команду</a:t>
            </a:r>
            <a:r>
              <a:rPr lang="en-US" sz="2400">
                <a:ea typeface="+mn-lt"/>
                <a:cs typeface="+mn-lt"/>
              </a:rPr>
              <a:t>. </a:t>
            </a:r>
          </a:p>
          <a:p>
            <a:r>
              <a:rPr lang="en-US" sz="2400" err="1">
                <a:ea typeface="+mn-lt"/>
                <a:cs typeface="+mn-lt"/>
              </a:rPr>
              <a:t>Кроме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этого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сама</a:t>
            </a:r>
            <a:r>
              <a:rPr lang="en-US" sz="2400">
                <a:ea typeface="+mn-lt"/>
                <a:cs typeface="+mn-lt"/>
              </a:rPr>
              <a:t> ОС </a:t>
            </a:r>
            <a:r>
              <a:rPr lang="en-US" sz="2400" err="1">
                <a:ea typeface="+mn-lt"/>
                <a:cs typeface="+mn-lt"/>
              </a:rPr>
              <a:t>может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изменить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приоритеты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потоков</a:t>
            </a:r>
            <a:r>
              <a:rPr lang="en-US" sz="2400">
                <a:ea typeface="+mn-lt"/>
                <a:cs typeface="+mn-lt"/>
              </a:rPr>
              <a:t> в </a:t>
            </a:r>
            <a:r>
              <a:rPr lang="en-US" sz="2400" err="1">
                <a:ea typeface="+mn-lt"/>
                <a:cs typeface="+mn-lt"/>
              </a:rPr>
              <a:t>зависимости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ситуации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складывающейся</a:t>
            </a:r>
            <a:r>
              <a:rPr lang="en-US" sz="2400">
                <a:ea typeface="+mn-lt"/>
                <a:cs typeface="+mn-lt"/>
              </a:rPr>
              <a:t> в </a:t>
            </a:r>
            <a:r>
              <a:rPr lang="en-US" sz="2400" err="1">
                <a:ea typeface="+mn-lt"/>
                <a:cs typeface="+mn-lt"/>
              </a:rPr>
              <a:t>системе</a:t>
            </a:r>
            <a:r>
              <a:rPr lang="en-US" sz="2400">
                <a:ea typeface="+mn-lt"/>
                <a:cs typeface="+mn-lt"/>
              </a:rPr>
              <a:t>. В </a:t>
            </a:r>
            <a:r>
              <a:rPr lang="en-US" sz="2400" err="1">
                <a:ea typeface="+mn-lt"/>
                <a:cs typeface="+mn-lt"/>
              </a:rPr>
              <a:t>последнем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случае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приоритеты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называются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динамическими</a:t>
            </a:r>
            <a:r>
              <a:rPr lang="en-US" sz="2400">
                <a:ea typeface="+mn-lt"/>
                <a:cs typeface="+mn-lt"/>
              </a:rPr>
              <a:t> в </a:t>
            </a:r>
            <a:r>
              <a:rPr lang="en-US" sz="2400" err="1">
                <a:ea typeface="+mn-lt"/>
                <a:cs typeface="+mn-lt"/>
              </a:rPr>
              <a:t>отличие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неизменяемых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фиксированных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приоритетов</a:t>
            </a:r>
            <a:r>
              <a:rPr lang="en-US" sz="2400">
                <a:ea typeface="+mn-lt"/>
                <a:cs typeface="+mn-lt"/>
              </a:rPr>
              <a:t>. </a:t>
            </a:r>
            <a:endParaRPr lang="en-US">
              <a:ea typeface="+mn-lt"/>
              <a:cs typeface="+mn-lt"/>
            </a:endParaRPr>
          </a:p>
          <a:p>
            <a:r>
              <a:rPr lang="en-US" sz="2400" err="1">
                <a:ea typeface="+mn-lt"/>
                <a:cs typeface="+mn-lt"/>
              </a:rPr>
              <a:t>Возможности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пользователей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влиять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приоритеты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процессов</a:t>
            </a:r>
            <a:r>
              <a:rPr lang="en-US" sz="2400">
                <a:ea typeface="+mn-lt"/>
                <a:cs typeface="+mn-lt"/>
              </a:rPr>
              <a:t> и </a:t>
            </a:r>
            <a:r>
              <a:rPr lang="en-US" sz="2400" err="1">
                <a:ea typeface="+mn-lt"/>
                <a:cs typeface="+mn-lt"/>
              </a:rPr>
              <a:t>потоков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ограничены</a:t>
            </a:r>
            <a:r>
              <a:rPr lang="en-US" sz="2400">
                <a:ea typeface="+mn-lt"/>
                <a:cs typeface="+mn-lt"/>
              </a:rPr>
              <a:t> ОС. </a:t>
            </a:r>
            <a:r>
              <a:rPr lang="en-US" sz="2400" err="1">
                <a:ea typeface="+mn-lt"/>
                <a:cs typeface="+mn-lt"/>
              </a:rPr>
              <a:t>Обычно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это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разрешается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администраторам</a:t>
            </a:r>
            <a:r>
              <a:rPr lang="en-US" sz="2400">
                <a:ea typeface="+mn-lt"/>
                <a:cs typeface="+mn-lt"/>
              </a:rPr>
              <a:t>, в </a:t>
            </a:r>
            <a:r>
              <a:rPr lang="en-US" sz="2400" err="1">
                <a:ea typeface="+mn-lt"/>
                <a:cs typeface="+mn-lt"/>
              </a:rPr>
              <a:t>определенных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пределах</a:t>
            </a:r>
            <a:r>
              <a:rPr lang="en-US" sz="2400">
                <a:ea typeface="+mn-lt"/>
                <a:cs typeface="+mn-lt"/>
              </a:rPr>
              <a:t>. </a:t>
            </a:r>
            <a:endParaRPr lang="en-US"/>
          </a:p>
          <a:p>
            <a:endParaRPr lang="en-US" sz="2400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D1A88-558B-BCBD-DD20-8F93DC668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017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31CC4-C5EE-B8D0-50AE-6217FF72C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2626"/>
            <a:ext cx="10515600" cy="56675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err="1">
                <a:latin typeface="Aptos"/>
                <a:cs typeface="Arial"/>
              </a:rPr>
              <a:t>Существуют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две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разновидности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приоритетного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планирования</a:t>
            </a:r>
            <a:r>
              <a:rPr lang="en-US" sz="2400">
                <a:latin typeface="Aptos"/>
                <a:cs typeface="Arial"/>
              </a:rPr>
              <a:t>: с </a:t>
            </a:r>
            <a:r>
              <a:rPr lang="en-US" sz="2400" err="1">
                <a:latin typeface="Aptos"/>
                <a:cs typeface="Arial"/>
              </a:rPr>
              <a:t>относительными</a:t>
            </a:r>
            <a:r>
              <a:rPr lang="en-US" sz="2400">
                <a:latin typeface="Aptos"/>
                <a:cs typeface="Arial"/>
              </a:rPr>
              <a:t> и </a:t>
            </a:r>
            <a:r>
              <a:rPr lang="en-US" sz="2400" err="1">
                <a:latin typeface="Aptos"/>
                <a:cs typeface="Arial"/>
              </a:rPr>
              <a:t>абсолютными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приоритетами</a:t>
            </a:r>
            <a:r>
              <a:rPr lang="en-US" sz="2400">
                <a:latin typeface="Aptos"/>
                <a:cs typeface="Arial"/>
              </a:rPr>
              <a:t>. </a:t>
            </a:r>
          </a:p>
          <a:p>
            <a:r>
              <a:rPr lang="en-US" sz="2400">
                <a:latin typeface="Aptos"/>
                <a:cs typeface="Arial"/>
              </a:rPr>
              <a:t>В </a:t>
            </a:r>
            <a:r>
              <a:rPr lang="en-US" sz="2400" err="1">
                <a:latin typeface="Aptos"/>
                <a:cs typeface="Arial"/>
              </a:rPr>
              <a:t>обоих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случаях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на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выполнение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выбирается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имею­щий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наивысший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приоритет</a:t>
            </a:r>
            <a:r>
              <a:rPr lang="en-US" sz="2400">
                <a:latin typeface="Aptos"/>
                <a:cs typeface="Arial"/>
              </a:rPr>
              <a:t>. </a:t>
            </a:r>
            <a:r>
              <a:rPr lang="en-US" sz="2400" err="1">
                <a:latin typeface="Aptos"/>
                <a:cs typeface="Arial"/>
              </a:rPr>
              <a:t>Но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определение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момента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смены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активного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решает­ся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по-разному</a:t>
            </a:r>
            <a:r>
              <a:rPr lang="en-US" sz="2400">
                <a:latin typeface="Aptos"/>
                <a:cs typeface="Arial"/>
              </a:rPr>
              <a:t>. </a:t>
            </a:r>
          </a:p>
          <a:p>
            <a:r>
              <a:rPr lang="en-US" sz="2400">
                <a:latin typeface="Aptos"/>
                <a:cs typeface="Arial"/>
              </a:rPr>
              <a:t>В </a:t>
            </a:r>
            <a:r>
              <a:rPr lang="en-US" sz="2400" err="1">
                <a:latin typeface="Aptos"/>
                <a:cs typeface="Arial"/>
              </a:rPr>
              <a:t>системах</a:t>
            </a:r>
            <a:r>
              <a:rPr lang="en-US" sz="2400">
                <a:latin typeface="Aptos"/>
                <a:cs typeface="Arial"/>
              </a:rPr>
              <a:t> с </a:t>
            </a:r>
            <a:r>
              <a:rPr lang="en-US" sz="2400" err="1">
                <a:latin typeface="Aptos"/>
                <a:cs typeface="Arial"/>
              </a:rPr>
              <a:t>относительными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приоритетами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активный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выполня­ется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до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тех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пор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пока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он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сам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не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покинет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процессор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перейдя</a:t>
            </a:r>
            <a:r>
              <a:rPr lang="en-US" sz="2400">
                <a:latin typeface="Aptos"/>
                <a:cs typeface="Arial"/>
              </a:rPr>
              <a:t> в </a:t>
            </a:r>
            <a:r>
              <a:rPr lang="en-US" sz="2400" err="1">
                <a:latin typeface="Aptos"/>
                <a:cs typeface="Arial"/>
              </a:rPr>
              <a:t>состояние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ожидания</a:t>
            </a:r>
            <a:r>
              <a:rPr lang="en-US" sz="2400">
                <a:latin typeface="Aptos"/>
                <a:cs typeface="Arial"/>
              </a:rPr>
              <a:t> (</a:t>
            </a:r>
            <a:r>
              <a:rPr lang="en-US" sz="2400" err="1">
                <a:latin typeface="Aptos"/>
                <a:cs typeface="Arial"/>
              </a:rPr>
              <a:t>по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вводу-выводу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например</a:t>
            </a:r>
            <a:r>
              <a:rPr lang="en-US" sz="2400">
                <a:latin typeface="Aptos"/>
                <a:cs typeface="Arial"/>
              </a:rPr>
              <a:t>), </a:t>
            </a:r>
            <a:r>
              <a:rPr lang="en-US" sz="2400" err="1">
                <a:latin typeface="Aptos"/>
                <a:cs typeface="Arial"/>
              </a:rPr>
              <a:t>или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не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завершится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или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произойдет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ошибка</a:t>
            </a:r>
            <a:r>
              <a:rPr lang="en-US" sz="2400">
                <a:latin typeface="Aptos"/>
                <a:cs typeface="Arial"/>
              </a:rPr>
              <a:t>. В Windows — </a:t>
            </a:r>
            <a:r>
              <a:rPr lang="en-US" sz="2400" err="1">
                <a:latin typeface="Aptos"/>
                <a:cs typeface="Arial"/>
              </a:rPr>
              <a:t>относительный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приоритет</a:t>
            </a:r>
            <a:r>
              <a:rPr lang="en-US" sz="2400">
                <a:latin typeface="Aptos"/>
                <a:cs typeface="Arial"/>
              </a:rPr>
              <a:t>.</a:t>
            </a:r>
          </a:p>
          <a:p>
            <a:r>
              <a:rPr lang="en-US" sz="2400">
                <a:latin typeface="Aptos"/>
                <a:cs typeface="Arial"/>
              </a:rPr>
              <a:t>В </a:t>
            </a:r>
            <a:r>
              <a:rPr lang="en-US" sz="2400" err="1">
                <a:latin typeface="Aptos"/>
                <a:cs typeface="Arial"/>
              </a:rPr>
              <a:t>системах</a:t>
            </a:r>
            <a:r>
              <a:rPr lang="en-US" sz="2400">
                <a:latin typeface="Aptos"/>
                <a:cs typeface="Arial"/>
              </a:rPr>
              <a:t> с </a:t>
            </a:r>
            <a:r>
              <a:rPr lang="en-US" sz="2400" err="1">
                <a:latin typeface="Aptos"/>
                <a:cs typeface="Arial"/>
              </a:rPr>
              <a:t>аб­солютными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приоритетами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выполнение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активного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потока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прерывается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еще</a:t>
            </a:r>
            <a:r>
              <a:rPr lang="en-US" sz="2400">
                <a:latin typeface="Aptos"/>
                <a:cs typeface="Arial"/>
              </a:rPr>
              <a:t> и </a:t>
            </a:r>
            <a:r>
              <a:rPr lang="en-US" sz="2400" err="1">
                <a:latin typeface="Aptos"/>
                <a:cs typeface="Arial"/>
              </a:rPr>
              <a:t>по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причи­не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появления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потока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имеющего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более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высокий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приоритет</a:t>
            </a:r>
            <a:r>
              <a:rPr lang="en-US" sz="2400">
                <a:latin typeface="Aptos"/>
                <a:cs typeface="Arial"/>
              </a:rPr>
              <a:t>, </a:t>
            </a:r>
            <a:r>
              <a:rPr lang="en-US" sz="2400" err="1">
                <a:latin typeface="Aptos"/>
                <a:cs typeface="Arial"/>
              </a:rPr>
              <a:t>чем</a:t>
            </a:r>
            <a:r>
              <a:rPr lang="en-US" sz="2400">
                <a:latin typeface="Aptos"/>
                <a:cs typeface="Arial"/>
              </a:rPr>
              <a:t> у </a:t>
            </a:r>
            <a:r>
              <a:rPr lang="en-US" sz="2400" err="1">
                <a:latin typeface="Aptos"/>
                <a:cs typeface="Arial"/>
              </a:rPr>
              <a:t>активного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потока</a:t>
            </a:r>
            <a:r>
              <a:rPr lang="en-US" sz="2400">
                <a:latin typeface="Aptos"/>
                <a:cs typeface="Arial"/>
              </a:rPr>
              <a:t>. В </a:t>
            </a:r>
            <a:r>
              <a:rPr lang="en-US" sz="2400" err="1">
                <a:latin typeface="Aptos"/>
                <a:cs typeface="Arial"/>
              </a:rPr>
              <a:t>этом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случае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прерванный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поток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переходит</a:t>
            </a:r>
            <a:r>
              <a:rPr lang="en-US" sz="2400">
                <a:latin typeface="Aptos"/>
                <a:cs typeface="Arial"/>
              </a:rPr>
              <a:t> в </a:t>
            </a:r>
            <a:r>
              <a:rPr lang="en-US" sz="2400" err="1">
                <a:latin typeface="Aptos"/>
                <a:cs typeface="Arial"/>
              </a:rPr>
              <a:t>состояние</a:t>
            </a:r>
            <a:r>
              <a:rPr lang="en-US" sz="2400">
                <a:latin typeface="Aptos"/>
                <a:cs typeface="Arial"/>
              </a:rPr>
              <a:t> </a:t>
            </a:r>
            <a:r>
              <a:rPr lang="en-US" sz="2400" err="1">
                <a:latin typeface="Aptos"/>
                <a:cs typeface="Arial"/>
              </a:rPr>
              <a:t>готовности</a:t>
            </a:r>
            <a:r>
              <a:rPr lang="en-US" sz="2400">
                <a:latin typeface="Aptos"/>
                <a:cs typeface="Arial"/>
              </a:rPr>
              <a:t>.</a:t>
            </a:r>
            <a:endParaRPr lang="en-US" sz="2400">
              <a:latin typeface="Apto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01C2F-6306-14A1-4953-B7BB1983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774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36DCA-F9D1-1BC5-2BAF-BA17D11E2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Примеры</a:t>
            </a:r>
            <a:r>
              <a:rPr lang="en-US"/>
              <a:t> </a:t>
            </a:r>
            <a:r>
              <a:rPr lang="en-US" err="1"/>
              <a:t>назначения</a:t>
            </a:r>
            <a:r>
              <a:rPr lang="en-US"/>
              <a:t> </a:t>
            </a:r>
            <a:r>
              <a:rPr lang="en-US" err="1"/>
              <a:t>приоритета</a:t>
            </a:r>
            <a:r>
              <a:rPr lang="en-US"/>
              <a:t> </a:t>
            </a:r>
            <a:r>
              <a:rPr lang="en-US" err="1"/>
              <a:t>потокам</a:t>
            </a:r>
            <a:r>
              <a:rPr lang="en-US"/>
              <a:t> в Windows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FD175-F5EB-68B0-462A-F870DDB2B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C1699E-0F51-23EF-CB1B-33173B46B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735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BA438-B5D4-9710-BA9C-123CE90F7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Использование</a:t>
            </a:r>
            <a:r>
              <a:rPr lang="en-US"/>
              <a:t> </a:t>
            </a:r>
            <a:r>
              <a:rPr lang="en-US" err="1"/>
              <a:t>общего</a:t>
            </a:r>
            <a:r>
              <a:rPr lang="en-US"/>
              <a:t> </a:t>
            </a:r>
            <a:r>
              <a:rPr lang="en-US" err="1"/>
              <a:t>адресного</a:t>
            </a:r>
            <a:r>
              <a:rPr lang="en-US"/>
              <a:t> </a:t>
            </a:r>
            <a:r>
              <a:rPr lang="en-US" err="1"/>
              <a:t>пространства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9F9D5-C5EC-EDF9-F487-66019722A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25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FB7D2C4-E6E0-DD08-B75A-A0254D873A2D}"/>
              </a:ext>
            </a:extLst>
          </p:cNvPr>
          <p:cNvSpPr>
            <a:spLocks noGrp="1"/>
          </p:cNvSpPr>
          <p:nvPr/>
        </p:nvSpPr>
        <p:spPr>
          <a:xfrm>
            <a:off x="838200" y="2039031"/>
            <a:ext cx="10515600" cy="56909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>
                <a:latin typeface="Aptos"/>
                <a:cs typeface="Arial"/>
              </a:rPr>
              <a:t>Система</a:t>
            </a:r>
            <a:r>
              <a:rPr lang="en-US">
                <a:latin typeface="Aptos"/>
                <a:cs typeface="Arial"/>
              </a:rPr>
              <a:t> Windows </a:t>
            </a:r>
            <a:r>
              <a:rPr lang="en-US" err="1">
                <a:latin typeface="Aptos"/>
                <a:cs typeface="Arial"/>
              </a:rPr>
              <a:t>поддерживает</a:t>
            </a:r>
            <a:r>
              <a:rPr lang="en-US">
                <a:latin typeface="Aptos"/>
                <a:cs typeface="Arial"/>
              </a:rPr>
              <a:t> </a:t>
            </a:r>
            <a:r>
              <a:rPr lang="en-US" err="1">
                <a:latin typeface="Aptos"/>
                <a:cs typeface="Arial"/>
              </a:rPr>
              <a:t>многопоточность</a:t>
            </a:r>
            <a:r>
              <a:rPr lang="en-US">
                <a:latin typeface="Aptos"/>
                <a:cs typeface="Arial"/>
              </a:rPr>
              <a:t>.</a:t>
            </a:r>
          </a:p>
          <a:p>
            <a:r>
              <a:rPr lang="en-US" err="1">
                <a:ea typeface="+mn-lt"/>
                <a:cs typeface="+mn-lt"/>
              </a:rPr>
              <a:t>Когда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многопоточный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процесс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выполняется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однопроцессорной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системе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потоки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выполняются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сменяя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друг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друга</a:t>
            </a:r>
            <a:r>
              <a:rPr lang="en-US">
                <a:ea typeface="+mn-lt"/>
                <a:cs typeface="+mn-lt"/>
              </a:rPr>
              <a:t>. </a:t>
            </a:r>
          </a:p>
          <a:p>
            <a:r>
              <a:rPr lang="en-US" err="1">
                <a:ea typeface="+mn-lt"/>
                <a:cs typeface="+mn-lt"/>
              </a:rPr>
              <a:t>Многопоточный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режим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осуществляется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аналогичным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способом</a:t>
            </a:r>
            <a:r>
              <a:rPr lang="en-US">
                <a:ea typeface="+mn-lt"/>
                <a:cs typeface="+mn-lt"/>
              </a:rPr>
              <a:t>. </a:t>
            </a:r>
            <a:r>
              <a:rPr lang="en-US" err="1">
                <a:ea typeface="+mn-lt"/>
                <a:cs typeface="+mn-lt"/>
              </a:rPr>
              <a:t>Центральный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процессор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быстро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переключается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между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потоками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создавая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иллюзию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что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потоки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выполняются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параллельно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пусть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даже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на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более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медленном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центральном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процессоре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чем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реально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используемый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328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811A0-D90A-495A-04F7-89FFD60D6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564" y="576855"/>
            <a:ext cx="10589341" cy="571556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600" err="1"/>
              <a:t>Различные</a:t>
            </a:r>
            <a:r>
              <a:rPr lang="en-US" sz="2600"/>
              <a:t> </a:t>
            </a:r>
            <a:r>
              <a:rPr lang="en-US" sz="2600" err="1"/>
              <a:t>потоки</a:t>
            </a:r>
            <a:r>
              <a:rPr lang="en-US" sz="2600"/>
              <a:t> в </a:t>
            </a:r>
            <a:r>
              <a:rPr lang="en-US" sz="2600" err="1"/>
              <a:t>процессе</a:t>
            </a:r>
            <a:r>
              <a:rPr lang="en-US" sz="2600"/>
              <a:t> </a:t>
            </a:r>
            <a:r>
              <a:rPr lang="en-US" sz="2600" err="1"/>
              <a:t>не</a:t>
            </a:r>
            <a:r>
              <a:rPr lang="en-US" sz="2600"/>
              <a:t> </a:t>
            </a:r>
            <a:r>
              <a:rPr lang="en-US" sz="2600" err="1"/>
              <a:t>обладают</a:t>
            </a:r>
            <a:r>
              <a:rPr lang="en-US" sz="2600"/>
              <a:t> </a:t>
            </a:r>
            <a:r>
              <a:rPr lang="en-US" sz="2600" err="1"/>
              <a:t>той</a:t>
            </a:r>
            <a:r>
              <a:rPr lang="en-US" sz="2600"/>
              <a:t> </a:t>
            </a:r>
            <a:r>
              <a:rPr lang="en-US" sz="2600" err="1"/>
              <a:t>независимостью,котора</a:t>
            </a:r>
            <a:r>
              <a:rPr lang="en-US" sz="2600"/>
              <a:t> </a:t>
            </a:r>
            <a:r>
              <a:rPr lang="en-US" sz="2600" err="1"/>
              <a:t>есть</a:t>
            </a:r>
            <a:r>
              <a:rPr lang="en-US" sz="2600"/>
              <a:t> у </a:t>
            </a:r>
            <a:r>
              <a:rPr lang="en-US" sz="2600" err="1"/>
              <a:t>различных</a:t>
            </a:r>
            <a:r>
              <a:rPr lang="en-US" sz="2600"/>
              <a:t> </a:t>
            </a:r>
            <a:r>
              <a:rPr lang="en-US" sz="2600" err="1"/>
              <a:t>процессов</a:t>
            </a:r>
            <a:r>
              <a:rPr lang="en-US" sz="2600"/>
              <a:t>. У </a:t>
            </a:r>
            <a:r>
              <a:rPr lang="en-US" sz="2600" err="1"/>
              <a:t>всех</a:t>
            </a:r>
            <a:r>
              <a:rPr lang="en-US" sz="2600"/>
              <a:t> </a:t>
            </a:r>
            <a:r>
              <a:rPr lang="en-US" sz="2600" err="1"/>
              <a:t>потоков</a:t>
            </a:r>
            <a:r>
              <a:rPr lang="en-US" sz="2600"/>
              <a:t> </a:t>
            </a:r>
            <a:r>
              <a:rPr lang="en-US" sz="2600" err="1"/>
              <a:t>одно</a:t>
            </a:r>
            <a:r>
              <a:rPr lang="en-US" sz="2600"/>
              <a:t> и </a:t>
            </a:r>
            <a:r>
              <a:rPr lang="en-US" sz="2600" err="1"/>
              <a:t>то</a:t>
            </a:r>
            <a:r>
              <a:rPr lang="en-US" sz="2600"/>
              <a:t> </a:t>
            </a:r>
            <a:r>
              <a:rPr lang="en-US" sz="2600" err="1"/>
              <a:t>же</a:t>
            </a:r>
            <a:r>
              <a:rPr lang="en-US" sz="2600"/>
              <a:t> </a:t>
            </a:r>
            <a:r>
              <a:rPr lang="en-US" sz="2600" err="1"/>
              <a:t>адресное</a:t>
            </a:r>
            <a:r>
              <a:rPr lang="en-US" sz="2600"/>
              <a:t> </a:t>
            </a:r>
            <a:r>
              <a:rPr lang="en-US" sz="2600" err="1"/>
              <a:t>пространство</a:t>
            </a:r>
            <a:r>
              <a:rPr lang="en-US" sz="2600"/>
              <a:t>, а </a:t>
            </a:r>
            <a:r>
              <a:rPr lang="en-US" sz="2600" err="1"/>
              <a:t>значит</a:t>
            </a:r>
            <a:r>
              <a:rPr lang="en-US" sz="2600"/>
              <a:t>, </a:t>
            </a:r>
            <a:r>
              <a:rPr lang="en-US" sz="2600" err="1"/>
              <a:t>они</a:t>
            </a:r>
            <a:r>
              <a:rPr lang="en-US" sz="2600"/>
              <a:t> </a:t>
            </a:r>
            <a:r>
              <a:rPr lang="en-US" sz="2600" err="1"/>
              <a:t>совместно</a:t>
            </a:r>
            <a:r>
              <a:rPr lang="en-US" sz="2600"/>
              <a:t> </a:t>
            </a:r>
            <a:r>
              <a:rPr lang="en-US" sz="2600" err="1"/>
              <a:t>используют</a:t>
            </a:r>
            <a:r>
              <a:rPr lang="en-US" sz="2600"/>
              <a:t> </a:t>
            </a:r>
            <a:r>
              <a:rPr lang="en-US" sz="2600" err="1"/>
              <a:t>одни</a:t>
            </a:r>
            <a:r>
              <a:rPr lang="en-US" sz="2600"/>
              <a:t> и </a:t>
            </a:r>
            <a:r>
              <a:rPr lang="en-US" sz="2600" err="1"/>
              <a:t>те</a:t>
            </a:r>
            <a:r>
              <a:rPr lang="en-US" sz="2600"/>
              <a:t> </a:t>
            </a:r>
            <a:r>
              <a:rPr lang="en-US" sz="2600" err="1"/>
              <a:t>же</a:t>
            </a:r>
            <a:r>
              <a:rPr lang="en-US" sz="2600"/>
              <a:t> </a:t>
            </a:r>
            <a:r>
              <a:rPr lang="en-US" sz="2600" err="1"/>
              <a:t>глобальные</a:t>
            </a:r>
            <a:r>
              <a:rPr lang="en-US" sz="2600"/>
              <a:t> </a:t>
            </a:r>
            <a:r>
              <a:rPr lang="en-US" sz="2600" err="1"/>
              <a:t>переменные</a:t>
            </a:r>
            <a:r>
              <a:rPr lang="en-US" sz="2600"/>
              <a:t>. </a:t>
            </a:r>
          </a:p>
          <a:p>
            <a:r>
              <a:rPr lang="en-US" sz="2600" err="1"/>
              <a:t>Поскольку</a:t>
            </a:r>
            <a:r>
              <a:rPr lang="en-US" sz="2600"/>
              <a:t> </a:t>
            </a:r>
            <a:r>
              <a:rPr lang="en-US" sz="2600" err="1"/>
              <a:t>каждый</a:t>
            </a:r>
            <a:r>
              <a:rPr lang="en-US" sz="2600"/>
              <a:t> </a:t>
            </a:r>
            <a:r>
              <a:rPr lang="en-US" sz="2600" err="1"/>
              <a:t>поток</a:t>
            </a:r>
            <a:r>
              <a:rPr lang="en-US" sz="2600"/>
              <a:t> </a:t>
            </a:r>
            <a:r>
              <a:rPr lang="en-US" sz="2600" err="1"/>
              <a:t>может</a:t>
            </a:r>
            <a:r>
              <a:rPr lang="en-US" sz="2600"/>
              <a:t> </a:t>
            </a:r>
            <a:r>
              <a:rPr lang="en-US" sz="2600" err="1"/>
              <a:t>иметь</a:t>
            </a:r>
            <a:r>
              <a:rPr lang="en-US" sz="2600"/>
              <a:t> </a:t>
            </a:r>
            <a:r>
              <a:rPr lang="en-US" sz="2600" err="1"/>
              <a:t>доступ</a:t>
            </a:r>
            <a:r>
              <a:rPr lang="en-US" sz="2600"/>
              <a:t> к </a:t>
            </a:r>
            <a:r>
              <a:rPr lang="en-US" sz="2600" err="1"/>
              <a:t>любому</a:t>
            </a:r>
            <a:r>
              <a:rPr lang="en-US" sz="2600"/>
              <a:t> </a:t>
            </a:r>
            <a:r>
              <a:rPr lang="en-US" sz="2600" err="1"/>
              <a:t>адресу</a:t>
            </a:r>
            <a:r>
              <a:rPr lang="en-US" sz="2600"/>
              <a:t> </a:t>
            </a:r>
            <a:r>
              <a:rPr lang="en-US" sz="2600" err="1"/>
              <a:t>памяти</a:t>
            </a:r>
            <a:r>
              <a:rPr lang="en-US" sz="2600"/>
              <a:t> в </a:t>
            </a:r>
            <a:r>
              <a:rPr lang="en-US" sz="2600" err="1"/>
              <a:t>пределах</a:t>
            </a:r>
            <a:r>
              <a:rPr lang="en-US" sz="2600"/>
              <a:t> </a:t>
            </a:r>
            <a:r>
              <a:rPr lang="en-US" sz="2600" err="1"/>
              <a:t>адресного</a:t>
            </a:r>
            <a:r>
              <a:rPr lang="en-US" sz="2600"/>
              <a:t> </a:t>
            </a:r>
            <a:r>
              <a:rPr lang="en-US" sz="2600" err="1"/>
              <a:t>пространства</a:t>
            </a:r>
            <a:r>
              <a:rPr lang="en-US" sz="2600"/>
              <a:t> </a:t>
            </a:r>
            <a:r>
              <a:rPr lang="en-US" sz="2600" err="1"/>
              <a:t>процесса</a:t>
            </a:r>
            <a:r>
              <a:rPr lang="en-US" sz="2600"/>
              <a:t>, </a:t>
            </a:r>
            <a:r>
              <a:rPr lang="en-US" sz="2600" err="1"/>
              <a:t>один</a:t>
            </a:r>
            <a:r>
              <a:rPr lang="en-US" sz="2600"/>
              <a:t> </a:t>
            </a:r>
            <a:r>
              <a:rPr lang="en-US" sz="2600" err="1"/>
              <a:t>поток</a:t>
            </a:r>
            <a:r>
              <a:rPr lang="en-US" sz="2600"/>
              <a:t> </a:t>
            </a:r>
            <a:r>
              <a:rPr lang="en-US" sz="2600" err="1"/>
              <a:t>можетсчитывать</a:t>
            </a:r>
            <a:r>
              <a:rPr lang="en-US" sz="2600"/>
              <a:t> и </a:t>
            </a:r>
            <a:r>
              <a:rPr lang="en-US" sz="2600" err="1"/>
              <a:t>стирать</a:t>
            </a:r>
            <a:r>
              <a:rPr lang="en-US" sz="2600"/>
              <a:t> </a:t>
            </a:r>
            <a:r>
              <a:rPr lang="en-US" sz="2600" err="1"/>
              <a:t>данные</a:t>
            </a:r>
            <a:r>
              <a:rPr lang="en-US" sz="2600"/>
              <a:t> </a:t>
            </a:r>
            <a:r>
              <a:rPr lang="en-US" sz="2600" err="1"/>
              <a:t>из</a:t>
            </a:r>
            <a:r>
              <a:rPr lang="en-US" sz="2600"/>
              <a:t> </a:t>
            </a:r>
            <a:r>
              <a:rPr lang="en-US" sz="2600" err="1"/>
              <a:t>стека</a:t>
            </a:r>
            <a:r>
              <a:rPr lang="en-US" sz="2600"/>
              <a:t> </a:t>
            </a:r>
            <a:r>
              <a:rPr lang="en-US" sz="2600" err="1"/>
              <a:t>другого</a:t>
            </a:r>
            <a:r>
              <a:rPr lang="en-US" sz="2600"/>
              <a:t> потока, записывать </a:t>
            </a:r>
            <a:r>
              <a:rPr lang="en-US" sz="2600" err="1"/>
              <a:t>туда</a:t>
            </a:r>
            <a:r>
              <a:rPr lang="en-US" sz="2600"/>
              <a:t> </a:t>
            </a:r>
            <a:r>
              <a:rPr lang="en-US" sz="2600" err="1"/>
              <a:t>свои</a:t>
            </a:r>
            <a:r>
              <a:rPr lang="en-US" sz="2600"/>
              <a:t> </a:t>
            </a:r>
            <a:r>
              <a:rPr lang="en-US" sz="2600" err="1"/>
              <a:t>данные</a:t>
            </a:r>
            <a:r>
              <a:rPr lang="en-US" sz="2600"/>
              <a:t>.</a:t>
            </a:r>
          </a:p>
          <a:p>
            <a:r>
              <a:rPr lang="en-US" sz="2600" err="1">
                <a:ea typeface="+mn-lt"/>
                <a:cs typeface="+mn-lt"/>
              </a:rPr>
              <a:t>Защита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между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потоками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отсутствует</a:t>
            </a:r>
            <a:r>
              <a:rPr lang="en-US" sz="2600">
                <a:ea typeface="+mn-lt"/>
                <a:cs typeface="+mn-lt"/>
              </a:rPr>
              <a:t>, </a:t>
            </a:r>
            <a:r>
              <a:rPr lang="en-US" sz="2600" err="1">
                <a:ea typeface="+mn-lt"/>
                <a:cs typeface="+mn-lt"/>
              </a:rPr>
              <a:t>потому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что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ее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невозможно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осуществить</a:t>
            </a:r>
            <a:r>
              <a:rPr lang="en-US" sz="2600">
                <a:ea typeface="+mn-lt"/>
                <a:cs typeface="+mn-lt"/>
              </a:rPr>
              <a:t> и в </a:t>
            </a:r>
            <a:r>
              <a:rPr lang="en-US" sz="2600" err="1">
                <a:ea typeface="+mn-lt"/>
                <a:cs typeface="+mn-lt"/>
              </a:rPr>
              <a:t>ней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нет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необходимости</a:t>
            </a:r>
            <a:r>
              <a:rPr lang="en-US" sz="2600">
                <a:ea typeface="+mn-lt"/>
                <a:cs typeface="+mn-lt"/>
              </a:rPr>
              <a:t>. В </a:t>
            </a:r>
            <a:r>
              <a:rPr lang="en-US" sz="2600" err="1">
                <a:ea typeface="+mn-lt"/>
                <a:cs typeface="+mn-lt"/>
              </a:rPr>
              <a:t>отличие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от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различных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процессов</a:t>
            </a:r>
            <a:r>
              <a:rPr lang="en-US" sz="2600">
                <a:ea typeface="+mn-lt"/>
                <a:cs typeface="+mn-lt"/>
              </a:rPr>
              <a:t>, </a:t>
            </a:r>
            <a:r>
              <a:rPr lang="en-US" sz="2600" err="1">
                <a:ea typeface="+mn-lt"/>
                <a:cs typeface="+mn-lt"/>
              </a:rPr>
              <a:t>которые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могут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принадлежать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различным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пользователям</a:t>
            </a:r>
            <a:r>
              <a:rPr lang="en-US" sz="2600">
                <a:ea typeface="+mn-lt"/>
                <a:cs typeface="+mn-lt"/>
              </a:rPr>
              <a:t> и </a:t>
            </a:r>
            <a:r>
              <a:rPr lang="en-US" sz="2600" err="1">
                <a:ea typeface="+mn-lt"/>
                <a:cs typeface="+mn-lt"/>
              </a:rPr>
              <a:t>враждовать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друг</a:t>
            </a:r>
            <a:r>
              <a:rPr lang="en-US" sz="2600">
                <a:ea typeface="+mn-lt"/>
                <a:cs typeface="+mn-lt"/>
              </a:rPr>
              <a:t> с </a:t>
            </a:r>
            <a:r>
              <a:rPr lang="en-US" sz="2600" err="1">
                <a:ea typeface="+mn-lt"/>
                <a:cs typeface="+mn-lt"/>
              </a:rPr>
              <a:t>другом</a:t>
            </a:r>
            <a:r>
              <a:rPr lang="en-US" sz="2600">
                <a:ea typeface="+mn-lt"/>
                <a:cs typeface="+mn-lt"/>
              </a:rPr>
              <a:t>, </a:t>
            </a:r>
            <a:r>
              <a:rPr lang="en-US" sz="2600" err="1">
                <a:ea typeface="+mn-lt"/>
                <a:cs typeface="+mn-lt"/>
              </a:rPr>
              <a:t>один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процесс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всегда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принадлежит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одному</a:t>
            </a:r>
            <a:r>
              <a:rPr lang="en-US" sz="2600">
                <a:ea typeface="+mn-lt"/>
                <a:cs typeface="+mn-lt"/>
              </a:rPr>
              <a:t> и </a:t>
            </a:r>
            <a:r>
              <a:rPr lang="en-US" sz="2600" err="1">
                <a:ea typeface="+mn-lt"/>
                <a:cs typeface="+mn-lt"/>
              </a:rPr>
              <a:t>тому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же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пользователю</a:t>
            </a:r>
            <a:r>
              <a:rPr lang="en-US" sz="2600">
                <a:ea typeface="+mn-lt"/>
                <a:cs typeface="+mn-lt"/>
              </a:rPr>
              <a:t>, </a:t>
            </a:r>
            <a:r>
              <a:rPr lang="en-US" sz="2600" err="1">
                <a:ea typeface="+mn-lt"/>
                <a:cs typeface="+mn-lt"/>
              </a:rPr>
              <a:t>который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создал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несколько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потоков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для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их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совместной</a:t>
            </a:r>
            <a:r>
              <a:rPr lang="en-US" sz="2600">
                <a:ea typeface="+mn-lt"/>
                <a:cs typeface="+mn-lt"/>
              </a:rPr>
              <a:t> </a:t>
            </a:r>
            <a:r>
              <a:rPr lang="en-US" sz="2600" err="1">
                <a:ea typeface="+mn-lt"/>
                <a:cs typeface="+mn-lt"/>
              </a:rPr>
              <a:t>работы</a:t>
            </a:r>
            <a:r>
              <a:rPr lang="en-US" sz="2600">
                <a:ea typeface="+mn-lt"/>
                <a:cs typeface="+mn-lt"/>
              </a:rPr>
              <a:t>.</a:t>
            </a:r>
            <a:endParaRPr lang="en-US" sz="2600"/>
          </a:p>
          <a:p>
            <a:endParaRPr lang="en-US" sz="2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744EB-D639-9926-A74A-BA9C1964F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23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CAE2C-BE47-A8D3-2608-0EAB26DE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Thread affinity </a:t>
            </a:r>
            <a:r>
              <a:rPr lang="en-US" sz="4000"/>
              <a:t>(</a:t>
            </a:r>
            <a:r>
              <a:rPr lang="en-US" sz="4000" err="1"/>
              <a:t>привязка</a:t>
            </a:r>
            <a:r>
              <a:rPr lang="en-US" sz="4000"/>
              <a:t> </a:t>
            </a:r>
            <a:r>
              <a:rPr lang="en-US" sz="4000" err="1"/>
              <a:t>потока</a:t>
            </a:r>
            <a:r>
              <a:rPr lang="en-US" sz="4000"/>
              <a:t> к </a:t>
            </a:r>
            <a:r>
              <a:rPr lang="en-US" sz="4000" err="1"/>
              <a:t>процессору</a:t>
            </a:r>
            <a:r>
              <a:rPr lang="en-US" sz="400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F66A1-D725-73B3-D486-B08E33C20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 err="1">
                <a:ea typeface="+mn-lt"/>
                <a:cs typeface="+mn-lt"/>
              </a:rPr>
              <a:t>Технология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которая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обеспечивает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закрепление</a:t>
            </a:r>
            <a:r>
              <a:rPr lang="en-US" sz="2400">
                <a:ea typeface="+mn-lt"/>
                <a:cs typeface="+mn-lt"/>
              </a:rPr>
              <a:t> и </a:t>
            </a:r>
            <a:r>
              <a:rPr lang="en-US" sz="2400" err="1">
                <a:ea typeface="+mn-lt"/>
                <a:cs typeface="+mn-lt"/>
              </a:rPr>
              <a:t>открепление</a:t>
            </a:r>
            <a:r>
              <a:rPr lang="en-US" sz="2400">
                <a:ea typeface="+mn-lt"/>
                <a:cs typeface="+mn-lt"/>
              </a:rPr>
              <a:t> </a:t>
            </a:r>
            <a:r>
              <a:rPr lang="en-US" sz="2400" err="1">
                <a:ea typeface="+mn-lt"/>
                <a:cs typeface="+mn-lt"/>
              </a:rPr>
              <a:t>потока</a:t>
            </a:r>
            <a:r>
              <a:rPr lang="en-US" sz="2400">
                <a:ea typeface="+mn-lt"/>
                <a:cs typeface="+mn-lt"/>
              </a:rPr>
              <a:t> к </a:t>
            </a:r>
            <a:r>
              <a:rPr lang="en-US" sz="2400" err="1">
                <a:ea typeface="+mn-lt"/>
                <a:cs typeface="+mn-lt"/>
              </a:rPr>
              <a:t>конкретному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ядру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центрального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процессора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центральному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процессору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или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набору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процессоров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так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что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поток</a:t>
            </a:r>
            <a:r>
              <a:rPr lang="en-US" sz="2400">
                <a:ea typeface="+mn-lt"/>
                <a:cs typeface="+mn-lt"/>
              </a:rPr>
              <a:t> </a:t>
            </a:r>
            <a:r>
              <a:rPr lang="en-US" sz="2400" err="1">
                <a:ea typeface="+mn-lt"/>
                <a:cs typeface="+mn-lt"/>
              </a:rPr>
              <a:t>будет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выполняться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только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указанном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ядре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процессоре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или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процессорах</a:t>
            </a:r>
            <a:r>
              <a:rPr lang="en-US" sz="2400">
                <a:ea typeface="+mn-lt"/>
                <a:cs typeface="+mn-lt"/>
              </a:rPr>
              <a:t>, а </a:t>
            </a:r>
            <a:r>
              <a:rPr lang="en-US" sz="2400" err="1">
                <a:ea typeface="+mn-lt"/>
                <a:cs typeface="+mn-lt"/>
              </a:rPr>
              <a:t>не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на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любом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процессоре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многопроцессорной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системы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 sz="2400"/>
          </a:p>
          <a:p>
            <a:r>
              <a:rPr lang="en-US" sz="2400" err="1">
                <a:ea typeface="+mn-lt"/>
                <a:cs typeface="+mn-lt"/>
              </a:rPr>
              <a:t>Привязку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процессора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можно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рассматривать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как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модификацию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алгоритма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планирования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центральной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очереди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задач</a:t>
            </a:r>
            <a:r>
              <a:rPr lang="en-US" sz="2400">
                <a:ea typeface="+mn-lt"/>
                <a:cs typeface="+mn-lt"/>
              </a:rPr>
              <a:t> в </a:t>
            </a:r>
            <a:r>
              <a:rPr lang="en-US" sz="2400" err="1">
                <a:ea typeface="+mn-lt"/>
                <a:cs typeface="+mn-lt"/>
              </a:rPr>
              <a:t>многопроцессорной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операционной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системе</a:t>
            </a:r>
            <a:r>
              <a:rPr lang="en-US" sz="2400">
                <a:ea typeface="+mn-lt"/>
                <a:cs typeface="+mn-lt"/>
              </a:rPr>
              <a:t>. </a:t>
            </a:r>
            <a:r>
              <a:rPr lang="en-US" sz="2400" err="1">
                <a:ea typeface="+mn-lt"/>
                <a:cs typeface="+mn-lt"/>
              </a:rPr>
              <a:t>Каждому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элементу</a:t>
            </a:r>
            <a:r>
              <a:rPr lang="en-US" sz="2400">
                <a:ea typeface="+mn-lt"/>
                <a:cs typeface="+mn-lt"/>
              </a:rPr>
              <a:t> в </a:t>
            </a:r>
            <a:r>
              <a:rPr lang="en-US" sz="2400" err="1">
                <a:ea typeface="+mn-lt"/>
                <a:cs typeface="+mn-lt"/>
              </a:rPr>
              <a:t>очереди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задач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сопоставлен</a:t>
            </a:r>
            <a:r>
              <a:rPr lang="en-US" sz="2400">
                <a:ea typeface="+mn-lt"/>
                <a:cs typeface="+mn-lt"/>
              </a:rPr>
              <a:t> </a:t>
            </a:r>
            <a:r>
              <a:rPr lang="en-US" sz="2400" err="1">
                <a:ea typeface="+mn-lt"/>
                <a:cs typeface="+mn-lt"/>
              </a:rPr>
              <a:t>тег</a:t>
            </a:r>
            <a:r>
              <a:rPr lang="en-US" sz="2400">
                <a:ea typeface="+mn-lt"/>
                <a:cs typeface="+mn-lt"/>
              </a:rPr>
              <a:t>, </a:t>
            </a:r>
            <a:r>
              <a:rPr lang="en-US" sz="2400" err="1">
                <a:ea typeface="+mn-lt"/>
                <a:cs typeface="+mn-lt"/>
              </a:rPr>
              <a:t>задающие</a:t>
            </a:r>
            <a:r>
              <a:rPr lang="en-US" sz="2400">
                <a:ea typeface="+mn-lt"/>
                <a:cs typeface="+mn-lt"/>
              </a:rPr>
              <a:t> «</a:t>
            </a:r>
            <a:r>
              <a:rPr lang="en-US" sz="2400" err="1">
                <a:ea typeface="+mn-lt"/>
                <a:cs typeface="+mn-lt"/>
              </a:rPr>
              <a:t>родственные</a:t>
            </a:r>
            <a:r>
              <a:rPr lang="en-US" sz="2400">
                <a:ea typeface="+mn-lt"/>
                <a:cs typeface="+mn-lt"/>
              </a:rPr>
              <a:t>» </a:t>
            </a:r>
            <a:r>
              <a:rPr lang="en-US" sz="2400" err="1">
                <a:ea typeface="+mn-lt"/>
                <a:cs typeface="+mn-lt"/>
              </a:rPr>
              <a:t>ему</a:t>
            </a:r>
            <a:r>
              <a:rPr lang="en-US" sz="240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процессоры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/>
          </a:p>
          <a:p>
            <a:endParaRPr lang="en-US" sz="2400">
              <a:solidFill>
                <a:srgbClr val="202122"/>
              </a:solidFill>
            </a:endParaRPr>
          </a:p>
          <a:p>
            <a:endParaRPr lang="en-US" sz="240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773A4-899D-CDE6-A412-46D8C376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63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B27EC-5414-CBDB-A1B6-F569DEA26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654" y="671080"/>
            <a:ext cx="11058235" cy="550588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 err="1"/>
              <a:t>При</a:t>
            </a:r>
            <a:r>
              <a:rPr lang="en-US" sz="2200"/>
              <a:t> </a:t>
            </a:r>
            <a:r>
              <a:rPr lang="en-US" sz="2200" err="1"/>
              <a:t>выделении</a:t>
            </a:r>
            <a:r>
              <a:rPr lang="en-US" sz="2200"/>
              <a:t> </a:t>
            </a:r>
            <a:r>
              <a:rPr lang="en-US" sz="2200" err="1"/>
              <a:t>ресурсов</a:t>
            </a:r>
            <a:r>
              <a:rPr lang="en-US" sz="2200"/>
              <a:t> </a:t>
            </a:r>
            <a:r>
              <a:rPr lang="en-US" sz="2200" err="1"/>
              <a:t>каждая</a:t>
            </a:r>
            <a:r>
              <a:rPr lang="en-US" sz="2200"/>
              <a:t> </a:t>
            </a:r>
            <a:r>
              <a:rPr lang="en-US" sz="2200" err="1"/>
              <a:t>задача</a:t>
            </a:r>
            <a:r>
              <a:rPr lang="en-US" sz="2200"/>
              <a:t> </a:t>
            </a:r>
            <a:r>
              <a:rPr lang="en-US" sz="2200" err="1"/>
              <a:t>предпочтительным</a:t>
            </a:r>
            <a:r>
              <a:rPr lang="en-US" sz="2200"/>
              <a:t> </a:t>
            </a:r>
            <a:r>
              <a:rPr lang="en-US" sz="2200" err="1"/>
              <a:t>образом</a:t>
            </a:r>
            <a:r>
              <a:rPr lang="en-US" sz="2200"/>
              <a:t> </a:t>
            </a:r>
            <a:r>
              <a:rPr lang="en-US" sz="2200" err="1"/>
              <a:t>распределяется</a:t>
            </a:r>
            <a:r>
              <a:rPr lang="en-US" sz="2200"/>
              <a:t> </a:t>
            </a:r>
            <a:r>
              <a:rPr lang="en-US" sz="2200" err="1"/>
              <a:t>для</a:t>
            </a:r>
            <a:r>
              <a:rPr lang="en-US" sz="2200"/>
              <a:t> </a:t>
            </a:r>
            <a:r>
              <a:rPr lang="en-US" sz="2200" err="1"/>
              <a:t>выполнения</a:t>
            </a:r>
            <a:r>
              <a:rPr lang="en-US" sz="2200"/>
              <a:t> </a:t>
            </a:r>
            <a:r>
              <a:rPr lang="en-US" sz="2200" err="1"/>
              <a:t>на</a:t>
            </a:r>
            <a:r>
              <a:rPr lang="en-US" sz="2200"/>
              <a:t> </a:t>
            </a:r>
            <a:r>
              <a:rPr lang="en-US" sz="2200" err="1"/>
              <a:t>одном</a:t>
            </a:r>
            <a:r>
              <a:rPr lang="en-US" sz="2200"/>
              <a:t> </a:t>
            </a:r>
            <a:r>
              <a:rPr lang="en-US" sz="2200" err="1"/>
              <a:t>из</a:t>
            </a:r>
            <a:r>
              <a:rPr lang="en-US" sz="2200"/>
              <a:t> «</a:t>
            </a:r>
            <a:r>
              <a:rPr lang="en-US" sz="2200" err="1"/>
              <a:t>родственных</a:t>
            </a:r>
            <a:r>
              <a:rPr lang="en-US" sz="2200"/>
              <a:t>» </a:t>
            </a:r>
            <a:r>
              <a:rPr lang="en-US" sz="2200" err="1"/>
              <a:t>процессоров</a:t>
            </a:r>
            <a:r>
              <a:rPr lang="en-US" sz="2200"/>
              <a:t>. </a:t>
            </a:r>
            <a:r>
              <a:rPr lang="en-US" sz="2200" err="1"/>
              <a:t>Технология</a:t>
            </a:r>
            <a:r>
              <a:rPr lang="en-US" sz="2200"/>
              <a:t> </a:t>
            </a:r>
            <a:r>
              <a:rPr lang="en-US" sz="2200" err="1"/>
              <a:t>привязки</a:t>
            </a:r>
            <a:r>
              <a:rPr lang="en-US" sz="2200"/>
              <a:t> к </a:t>
            </a:r>
            <a:r>
              <a:rPr lang="en-US" sz="2200" err="1"/>
              <a:t>процессору</a:t>
            </a:r>
            <a:r>
              <a:rPr lang="en-US" sz="2200"/>
              <a:t> </a:t>
            </a:r>
            <a:r>
              <a:rPr lang="en-US" sz="2200" err="1"/>
              <a:t>использует</a:t>
            </a:r>
            <a:r>
              <a:rPr lang="en-US" sz="2200"/>
              <a:t> </a:t>
            </a:r>
            <a:r>
              <a:rPr lang="en-US" sz="2200" err="1"/>
              <a:t>тот</a:t>
            </a:r>
            <a:r>
              <a:rPr lang="en-US" sz="2200"/>
              <a:t> </a:t>
            </a:r>
            <a:r>
              <a:rPr lang="en-US" sz="2200" err="1"/>
              <a:t>факт</a:t>
            </a:r>
            <a:r>
              <a:rPr lang="en-US" sz="2200"/>
              <a:t>, </a:t>
            </a:r>
            <a:r>
              <a:rPr lang="en-US" sz="2200" err="1"/>
              <a:t>что</a:t>
            </a:r>
            <a:r>
              <a:rPr lang="en-US" sz="2200"/>
              <a:t> </a:t>
            </a:r>
            <a:r>
              <a:rPr lang="en-US" sz="2200" err="1"/>
              <a:t>данные</a:t>
            </a:r>
            <a:r>
              <a:rPr lang="en-US" sz="2200"/>
              <a:t> и </a:t>
            </a:r>
            <a:r>
              <a:rPr lang="en-US" sz="2200" err="1"/>
              <a:t>настройки</a:t>
            </a:r>
            <a:r>
              <a:rPr lang="en-US" sz="2200"/>
              <a:t> </a:t>
            </a:r>
            <a:r>
              <a:rPr lang="en-US" sz="2200" err="1"/>
              <a:t>процесса</a:t>
            </a:r>
            <a:r>
              <a:rPr lang="en-US" sz="2200"/>
              <a:t>, </a:t>
            </a:r>
            <a:r>
              <a:rPr lang="en-US" sz="2200" err="1"/>
              <a:t>который</a:t>
            </a:r>
            <a:r>
              <a:rPr lang="en-US" sz="2200"/>
              <a:t> </a:t>
            </a:r>
            <a:r>
              <a:rPr lang="en-US" sz="2200" err="1"/>
              <a:t>ранее</a:t>
            </a:r>
            <a:r>
              <a:rPr lang="en-US" sz="2200"/>
              <a:t> </a:t>
            </a:r>
            <a:r>
              <a:rPr lang="en-US" sz="2200" err="1"/>
              <a:t>был</a:t>
            </a:r>
            <a:r>
              <a:rPr lang="en-US" sz="2200"/>
              <a:t> </a:t>
            </a:r>
            <a:r>
              <a:rPr lang="en-US" sz="2200" err="1"/>
              <a:t>запущен</a:t>
            </a:r>
            <a:r>
              <a:rPr lang="en-US" sz="2200"/>
              <a:t> </a:t>
            </a:r>
            <a:r>
              <a:rPr lang="en-US" sz="2200" err="1"/>
              <a:t>на</a:t>
            </a:r>
            <a:r>
              <a:rPr lang="en-US" sz="2200"/>
              <a:t> </a:t>
            </a:r>
            <a:r>
              <a:rPr lang="en-US" sz="2200" err="1"/>
              <a:t>данном</a:t>
            </a:r>
            <a:r>
              <a:rPr lang="en-US" sz="2200"/>
              <a:t> </a:t>
            </a:r>
            <a:r>
              <a:rPr lang="en-US" sz="2200" err="1"/>
              <a:t>процессоре</a:t>
            </a:r>
            <a:r>
              <a:rPr lang="en-US" sz="2200"/>
              <a:t>, </a:t>
            </a:r>
            <a:r>
              <a:rPr lang="en-US" sz="2200" err="1"/>
              <a:t>могут</a:t>
            </a:r>
            <a:r>
              <a:rPr lang="en-US" sz="2200"/>
              <a:t> </a:t>
            </a:r>
            <a:r>
              <a:rPr lang="en-US" sz="2200" err="1"/>
              <a:t>быть</a:t>
            </a:r>
            <a:r>
              <a:rPr lang="en-US" sz="2200"/>
              <a:t> </a:t>
            </a:r>
            <a:r>
              <a:rPr lang="en-US" sz="2200" err="1"/>
              <a:t>оказаться</a:t>
            </a:r>
            <a:r>
              <a:rPr lang="en-US" sz="2200"/>
              <a:t> </a:t>
            </a:r>
            <a:r>
              <a:rPr lang="en-US" sz="2200" err="1"/>
              <a:t>более</a:t>
            </a:r>
            <a:r>
              <a:rPr lang="en-US" sz="2200"/>
              <a:t> </a:t>
            </a:r>
            <a:r>
              <a:rPr lang="en-US" sz="2200" err="1"/>
              <a:t>быстро</a:t>
            </a:r>
            <a:r>
              <a:rPr lang="en-US" sz="2200"/>
              <a:t> </a:t>
            </a:r>
            <a:r>
              <a:rPr lang="en-US" sz="2200" err="1"/>
              <a:t>доступными</a:t>
            </a:r>
            <a:r>
              <a:rPr lang="en-US" sz="2200"/>
              <a:t> </a:t>
            </a:r>
            <a:r>
              <a:rPr lang="en-US" sz="2200" err="1"/>
              <a:t>для</a:t>
            </a:r>
            <a:r>
              <a:rPr lang="en-US" sz="2200"/>
              <a:t> </a:t>
            </a:r>
            <a:r>
              <a:rPr lang="en-US" sz="2200" err="1"/>
              <a:t>этого</a:t>
            </a:r>
            <a:r>
              <a:rPr lang="en-US" sz="2200"/>
              <a:t> </a:t>
            </a:r>
            <a:r>
              <a:rPr lang="en-US" sz="2200" err="1"/>
              <a:t>процессора</a:t>
            </a:r>
            <a:r>
              <a:rPr lang="en-US" sz="2200"/>
              <a:t>, </a:t>
            </a:r>
            <a:r>
              <a:rPr lang="en-US" sz="2200" err="1"/>
              <a:t>чем</a:t>
            </a:r>
            <a:r>
              <a:rPr lang="en-US" sz="2200"/>
              <a:t> </a:t>
            </a:r>
            <a:r>
              <a:rPr lang="en-US" sz="2200" err="1"/>
              <a:t>для</a:t>
            </a:r>
            <a:r>
              <a:rPr lang="en-US" sz="2200"/>
              <a:t> </a:t>
            </a:r>
            <a:r>
              <a:rPr lang="en-US" sz="2200" err="1"/>
              <a:t>какого-то</a:t>
            </a:r>
            <a:r>
              <a:rPr lang="en-US" sz="2200"/>
              <a:t> </a:t>
            </a:r>
            <a:r>
              <a:rPr lang="en-US" sz="2200" err="1"/>
              <a:t>ещё</a:t>
            </a:r>
            <a:r>
              <a:rPr lang="en-US" sz="2200"/>
              <a:t>. </a:t>
            </a:r>
            <a:r>
              <a:rPr lang="en-US" sz="2200" err="1"/>
              <a:t>Это</a:t>
            </a:r>
            <a:r>
              <a:rPr lang="en-US" sz="2200"/>
              <a:t> </a:t>
            </a:r>
            <a:r>
              <a:rPr lang="en-US" sz="2200" err="1"/>
              <a:t>может</a:t>
            </a:r>
            <a:r>
              <a:rPr lang="en-US" sz="2200"/>
              <a:t> </a:t>
            </a:r>
            <a:r>
              <a:rPr lang="en-US" sz="2200" err="1"/>
              <a:t>происходить</a:t>
            </a:r>
            <a:r>
              <a:rPr lang="en-US" sz="2200"/>
              <a:t>, </a:t>
            </a:r>
            <a:r>
              <a:rPr lang="en-US" sz="2200" err="1"/>
              <a:t>например</a:t>
            </a:r>
            <a:r>
              <a:rPr lang="en-US" sz="2200"/>
              <a:t>, </a:t>
            </a:r>
            <a:r>
              <a:rPr lang="en-US" sz="2200" err="1"/>
              <a:t>из-за</a:t>
            </a:r>
            <a:r>
              <a:rPr lang="en-US" sz="2200"/>
              <a:t> </a:t>
            </a:r>
            <a:r>
              <a:rPr lang="en-US" sz="2200" err="1"/>
              <a:t>кэширования</a:t>
            </a:r>
            <a:r>
              <a:rPr lang="en-US" sz="2200"/>
              <a:t> </a:t>
            </a:r>
            <a:r>
              <a:rPr lang="en-US" sz="2200" err="1"/>
              <a:t>данных</a:t>
            </a:r>
            <a:r>
              <a:rPr lang="en-US" sz="2200"/>
              <a:t> </a:t>
            </a:r>
            <a:r>
              <a:rPr lang="en-US" sz="2200" err="1"/>
              <a:t>процесса</a:t>
            </a:r>
            <a:r>
              <a:rPr lang="en-US" sz="2200"/>
              <a:t> в </a:t>
            </a:r>
            <a:r>
              <a:rPr lang="en-US" sz="2200" err="1"/>
              <a:t>кэш-памяти</a:t>
            </a:r>
            <a:r>
              <a:rPr lang="en-US" sz="2200"/>
              <a:t> </a:t>
            </a:r>
            <a:r>
              <a:rPr lang="en-US" sz="2200" err="1"/>
              <a:t>процессора</a:t>
            </a:r>
            <a:r>
              <a:rPr lang="en-US" sz="2200"/>
              <a:t>.</a:t>
            </a:r>
          </a:p>
          <a:p>
            <a:r>
              <a:rPr lang="en-US" sz="2200" err="1"/>
              <a:t>Планирование</a:t>
            </a:r>
            <a:r>
              <a:rPr lang="en-US" sz="2200"/>
              <a:t> </a:t>
            </a:r>
            <a:r>
              <a:rPr lang="en-US" sz="2200" err="1"/>
              <a:t>выполнения</a:t>
            </a:r>
            <a:r>
              <a:rPr lang="en-US" sz="2200"/>
              <a:t> </a:t>
            </a:r>
            <a:r>
              <a:rPr lang="en-US" sz="2200" err="1"/>
              <a:t>такого</a:t>
            </a:r>
            <a:r>
              <a:rPr lang="en-US" sz="2200"/>
              <a:t> </a:t>
            </a:r>
            <a:r>
              <a:rPr lang="en-US" sz="2200" err="1"/>
              <a:t>потока</a:t>
            </a:r>
            <a:r>
              <a:rPr lang="en-US" sz="2200"/>
              <a:t> </a:t>
            </a:r>
            <a:r>
              <a:rPr lang="en-US" sz="2200" err="1"/>
              <a:t>на</a:t>
            </a:r>
            <a:r>
              <a:rPr lang="en-US" sz="2200"/>
              <a:t> </a:t>
            </a:r>
            <a:r>
              <a:rPr lang="en-US" sz="2200" err="1"/>
              <a:t>одном</a:t>
            </a:r>
            <a:r>
              <a:rPr lang="en-US" sz="2200"/>
              <a:t> и </a:t>
            </a:r>
            <a:r>
              <a:rPr lang="en-US" sz="2200" err="1"/>
              <a:t>том</a:t>
            </a:r>
            <a:r>
              <a:rPr lang="en-US" sz="2200"/>
              <a:t> </a:t>
            </a:r>
            <a:r>
              <a:rPr lang="en-US" sz="2200" err="1"/>
              <a:t>же</a:t>
            </a:r>
            <a:r>
              <a:rPr lang="en-US" sz="2200"/>
              <a:t> </a:t>
            </a:r>
            <a:r>
              <a:rPr lang="en-US" sz="2200" err="1"/>
              <a:t>процессоре</a:t>
            </a:r>
            <a:r>
              <a:rPr lang="en-US" sz="2200"/>
              <a:t> </a:t>
            </a:r>
            <a:r>
              <a:rPr lang="en-US" sz="2200" err="1"/>
              <a:t>повышает</a:t>
            </a:r>
            <a:r>
              <a:rPr lang="en-US" sz="2200"/>
              <a:t> </a:t>
            </a:r>
            <a:r>
              <a:rPr lang="en-US" sz="2200" err="1"/>
              <a:t>его</a:t>
            </a:r>
            <a:r>
              <a:rPr lang="en-US" sz="2200"/>
              <a:t> </a:t>
            </a:r>
            <a:r>
              <a:rPr lang="en-US" sz="2200" err="1"/>
              <a:t>производительность</a:t>
            </a:r>
            <a:r>
              <a:rPr lang="en-US" sz="2200"/>
              <a:t> </a:t>
            </a:r>
            <a:r>
              <a:rPr lang="en-US" sz="2200" err="1"/>
              <a:t>за</a:t>
            </a:r>
            <a:r>
              <a:rPr lang="en-US" sz="2200"/>
              <a:t> </a:t>
            </a:r>
            <a:r>
              <a:rPr lang="en-US" sz="2200" err="1"/>
              <a:t>счет</a:t>
            </a:r>
            <a:r>
              <a:rPr lang="en-US" sz="2200"/>
              <a:t> </a:t>
            </a:r>
            <a:r>
              <a:rPr lang="en-US" sz="2200" err="1"/>
              <a:t>уменьшения</a:t>
            </a:r>
            <a:r>
              <a:rPr lang="en-US" sz="2200"/>
              <a:t> </a:t>
            </a:r>
            <a:r>
              <a:rPr lang="en-US" sz="2200" err="1"/>
              <a:t>снижающих</a:t>
            </a:r>
            <a:r>
              <a:rPr lang="en-US" sz="2200"/>
              <a:t> </a:t>
            </a:r>
            <a:r>
              <a:rPr lang="en-US" sz="2200" err="1"/>
              <a:t>производительность</a:t>
            </a:r>
            <a:r>
              <a:rPr lang="en-US" sz="2200"/>
              <a:t> </a:t>
            </a:r>
            <a:r>
              <a:rPr lang="en-US" sz="2200" err="1"/>
              <a:t>событий</a:t>
            </a:r>
            <a:r>
              <a:rPr lang="en-US" sz="2200"/>
              <a:t>, </a:t>
            </a:r>
            <a:r>
              <a:rPr lang="en-US" sz="2200" err="1"/>
              <a:t>таких</a:t>
            </a:r>
            <a:r>
              <a:rPr lang="en-US" sz="2200"/>
              <a:t> </a:t>
            </a:r>
            <a:r>
              <a:rPr lang="en-US" sz="2200" err="1"/>
              <a:t>как</a:t>
            </a:r>
            <a:r>
              <a:rPr lang="en-US" sz="2200"/>
              <a:t> </a:t>
            </a:r>
            <a:r>
              <a:rPr lang="en-US" sz="2200" err="1"/>
              <a:t>потери</a:t>
            </a:r>
            <a:r>
              <a:rPr lang="en-US" sz="2200"/>
              <a:t> в </a:t>
            </a:r>
            <a:r>
              <a:rPr lang="en-US" sz="2200" err="1"/>
              <a:t>кеше</a:t>
            </a:r>
            <a:r>
              <a:rPr lang="en-US" sz="2200"/>
              <a:t>.</a:t>
            </a:r>
          </a:p>
          <a:p>
            <a:r>
              <a:rPr lang="en-US" sz="2200" err="1"/>
              <a:t>Кроме</a:t>
            </a:r>
            <a:r>
              <a:rPr lang="en-US" sz="2200"/>
              <a:t> </a:t>
            </a:r>
            <a:r>
              <a:rPr lang="en-US" sz="2200" err="1"/>
              <a:t>того</a:t>
            </a:r>
            <a:r>
              <a:rPr lang="en-US" sz="2200"/>
              <a:t>, в </a:t>
            </a:r>
            <a:r>
              <a:rPr lang="en-US" sz="2200" err="1"/>
              <a:t>ряде</a:t>
            </a:r>
            <a:r>
              <a:rPr lang="en-US" sz="2200"/>
              <a:t> </a:t>
            </a:r>
            <a:r>
              <a:rPr lang="en-US" sz="2200" err="1"/>
              <a:t>систем</a:t>
            </a:r>
            <a:r>
              <a:rPr lang="en-US" sz="2200"/>
              <a:t> </a:t>
            </a:r>
            <a:r>
              <a:rPr lang="en-US" sz="2200" err="1"/>
              <a:t>каждый</a:t>
            </a:r>
            <a:r>
              <a:rPr lang="en-US" sz="2200"/>
              <a:t> </a:t>
            </a:r>
            <a:r>
              <a:rPr lang="en-US" sz="2200" err="1"/>
              <a:t>из</a:t>
            </a:r>
            <a:r>
              <a:rPr lang="en-US" sz="2200"/>
              <a:t> </a:t>
            </a:r>
            <a:r>
              <a:rPr lang="en-US" sz="2200" err="1"/>
              <a:t>процессоров</a:t>
            </a:r>
            <a:r>
              <a:rPr lang="en-US" sz="2200"/>
              <a:t> </a:t>
            </a:r>
            <a:r>
              <a:rPr lang="en-US" sz="2200" err="1"/>
              <a:t>может</a:t>
            </a:r>
            <a:r>
              <a:rPr lang="en-US" sz="2200"/>
              <a:t> </a:t>
            </a:r>
            <a:r>
              <a:rPr lang="en-US" sz="2200" err="1"/>
              <a:t>иметь</a:t>
            </a:r>
            <a:r>
              <a:rPr lang="en-US" sz="2200"/>
              <a:t> </a:t>
            </a:r>
            <a:r>
              <a:rPr lang="en-US" sz="2200" err="1"/>
              <a:t>более</a:t>
            </a:r>
            <a:r>
              <a:rPr lang="en-US" sz="2200"/>
              <a:t> </a:t>
            </a:r>
            <a:r>
              <a:rPr lang="en-US" sz="2200" err="1"/>
              <a:t>быстрый</a:t>
            </a:r>
            <a:r>
              <a:rPr lang="en-US" sz="2200"/>
              <a:t> </a:t>
            </a:r>
            <a:r>
              <a:rPr lang="en-US" sz="2200" err="1"/>
              <a:t>доступ</a:t>
            </a:r>
            <a:r>
              <a:rPr lang="en-US" sz="2200"/>
              <a:t> к </a:t>
            </a:r>
            <a:r>
              <a:rPr lang="en-US" sz="2200" err="1"/>
              <a:t>близкому</a:t>
            </a:r>
            <a:r>
              <a:rPr lang="en-US" sz="2200"/>
              <a:t> </a:t>
            </a:r>
            <a:r>
              <a:rPr lang="en-US" sz="2200" err="1"/>
              <a:t>ему</a:t>
            </a:r>
            <a:r>
              <a:rPr lang="en-US" sz="2200"/>
              <a:t> </a:t>
            </a:r>
            <a:r>
              <a:rPr lang="en-US" sz="2200" err="1"/>
              <a:t>региону</a:t>
            </a:r>
            <a:r>
              <a:rPr lang="en-US" sz="2200"/>
              <a:t> </a:t>
            </a:r>
            <a:r>
              <a:rPr lang="en-US" sz="2200" err="1"/>
              <a:t>оперативной</a:t>
            </a:r>
            <a:r>
              <a:rPr lang="en-US" sz="2200"/>
              <a:t> </a:t>
            </a:r>
            <a:r>
              <a:rPr lang="en-US" sz="2200" err="1"/>
              <a:t>памяти</a:t>
            </a:r>
            <a:r>
              <a:rPr lang="en-US" sz="2200"/>
              <a:t>. </a:t>
            </a:r>
            <a:r>
              <a:rPr lang="en-US" sz="2200" err="1"/>
              <a:t>При</a:t>
            </a:r>
            <a:r>
              <a:rPr lang="en-US" sz="2200"/>
              <a:t> </a:t>
            </a:r>
            <a:r>
              <a:rPr lang="en-US" sz="2200" err="1"/>
              <a:t>этом</a:t>
            </a:r>
            <a:r>
              <a:rPr lang="en-US" sz="2200"/>
              <a:t>, </a:t>
            </a:r>
            <a:r>
              <a:rPr lang="en-US" sz="2200" err="1"/>
              <a:t>оказывается</a:t>
            </a:r>
            <a:r>
              <a:rPr lang="en-US" sz="2200"/>
              <a:t> </a:t>
            </a:r>
            <a:r>
              <a:rPr lang="en-US" sz="2200" err="1"/>
              <a:t>рациональным</a:t>
            </a:r>
            <a:r>
              <a:rPr lang="en-US" sz="2200"/>
              <a:t> </a:t>
            </a:r>
            <a:r>
              <a:rPr lang="en-US" sz="2200" err="1"/>
              <a:t>сохранять</a:t>
            </a:r>
            <a:r>
              <a:rPr lang="en-US" sz="2200"/>
              <a:t> </a:t>
            </a:r>
            <a:r>
              <a:rPr lang="en-US" sz="2200" err="1"/>
              <a:t>постоянную</a:t>
            </a:r>
            <a:r>
              <a:rPr lang="en-US" sz="2200"/>
              <a:t> </a:t>
            </a:r>
            <a:r>
              <a:rPr lang="en-US" sz="2200" err="1"/>
              <a:t>привязку</a:t>
            </a:r>
            <a:r>
              <a:rPr lang="en-US" sz="2200"/>
              <a:t> </a:t>
            </a:r>
            <a:r>
              <a:rPr lang="en-US" sz="2200" err="1"/>
              <a:t>потока</a:t>
            </a:r>
            <a:r>
              <a:rPr lang="en-US" sz="2200"/>
              <a:t> к </a:t>
            </a:r>
            <a:r>
              <a:rPr lang="en-US" sz="2200" err="1"/>
              <a:t>тому</a:t>
            </a:r>
            <a:r>
              <a:rPr lang="en-US" sz="2200"/>
              <a:t> </a:t>
            </a:r>
            <a:r>
              <a:rPr lang="en-US" sz="2200" err="1"/>
              <a:t>процессору</a:t>
            </a:r>
            <a:r>
              <a:rPr lang="en-US" sz="2200"/>
              <a:t>, </a:t>
            </a:r>
            <a:r>
              <a:rPr lang="en-US" sz="2200" err="1"/>
              <a:t>доступ</a:t>
            </a:r>
            <a:r>
              <a:rPr lang="en-US" sz="2200"/>
              <a:t> </a:t>
            </a:r>
            <a:r>
              <a:rPr lang="en-US" sz="2200" err="1"/>
              <a:t>которого</a:t>
            </a:r>
            <a:r>
              <a:rPr lang="en-US" sz="2200"/>
              <a:t> к </a:t>
            </a:r>
            <a:r>
              <a:rPr lang="en-US" sz="2200" err="1"/>
              <a:t>оперативной</a:t>
            </a:r>
            <a:r>
              <a:rPr lang="en-US" sz="2200"/>
              <a:t> </a:t>
            </a:r>
            <a:r>
              <a:rPr lang="en-US" sz="2200" err="1"/>
              <a:t>памяти</a:t>
            </a:r>
            <a:r>
              <a:rPr lang="en-US" sz="2200"/>
              <a:t>, </a:t>
            </a:r>
            <a:r>
              <a:rPr lang="en-US" sz="2200" err="1"/>
              <a:t>где</a:t>
            </a:r>
            <a:r>
              <a:rPr lang="en-US" sz="2200"/>
              <a:t> </a:t>
            </a:r>
            <a:r>
              <a:rPr lang="en-US" sz="2200" err="1"/>
              <a:t>расположены</a:t>
            </a:r>
            <a:r>
              <a:rPr lang="en-US" sz="2200"/>
              <a:t> </a:t>
            </a:r>
            <a:r>
              <a:rPr lang="en-US" sz="2200" err="1"/>
              <a:t>данные</a:t>
            </a:r>
            <a:r>
              <a:rPr lang="en-US" sz="2200"/>
              <a:t> </a:t>
            </a:r>
            <a:r>
              <a:rPr lang="en-US" sz="2200" err="1"/>
              <a:t>этого</a:t>
            </a:r>
            <a:r>
              <a:rPr lang="en-US" sz="2200"/>
              <a:t> </a:t>
            </a:r>
            <a:r>
              <a:rPr lang="en-US" sz="2200" err="1"/>
              <a:t>процесса</a:t>
            </a:r>
            <a:r>
              <a:rPr lang="en-US" sz="2200"/>
              <a:t>, </a:t>
            </a:r>
            <a:r>
              <a:rPr lang="en-US" sz="2200" err="1"/>
              <a:t>является</a:t>
            </a:r>
            <a:r>
              <a:rPr lang="en-US" sz="2200"/>
              <a:t> </a:t>
            </a:r>
            <a:r>
              <a:rPr lang="en-US" sz="2200" err="1"/>
              <a:t>более</a:t>
            </a:r>
            <a:r>
              <a:rPr lang="en-US" sz="2200"/>
              <a:t> </a:t>
            </a:r>
            <a:r>
              <a:rPr lang="en-US" sz="2200" err="1"/>
              <a:t>быстрым</a:t>
            </a:r>
            <a:r>
              <a:rPr lang="en-US" sz="220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BE3A6-A896-04D9-0018-77EE0312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94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Потоки</vt:lpstr>
      <vt:lpstr>Поток</vt:lpstr>
      <vt:lpstr>PowerPoint Presentation</vt:lpstr>
      <vt:lpstr>Создание потока</vt:lpstr>
      <vt:lpstr>PowerPoint Presentation</vt:lpstr>
      <vt:lpstr>Информация о потоке</vt:lpstr>
      <vt:lpstr>PowerPoint Presentation</vt:lpstr>
      <vt:lpstr>PowerPoint Presentation</vt:lpstr>
      <vt:lpstr>PowerPoint Presentation</vt:lpstr>
      <vt:lpstr>Пример создания потоков в Windows (Win32, C++)</vt:lpstr>
      <vt:lpstr>Завершение потока</vt:lpstr>
      <vt:lpstr>Ожидание завершения потока</vt:lpstr>
      <vt:lpstr>Пример завершения потока в Windows</vt:lpstr>
      <vt:lpstr>Примеры остановки и возобновления потоков в Windows </vt:lpstr>
      <vt:lpstr>PowerPoint Presentation</vt:lpstr>
      <vt:lpstr>Передача управления планировщику</vt:lpstr>
      <vt:lpstr>Алгоритмы планирования выполнения потоков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Примеры назначения приоритета потокам в Windows </vt:lpstr>
      <vt:lpstr>Использование общего адресного пространства</vt:lpstr>
      <vt:lpstr>PowerPoint Presentation</vt:lpstr>
      <vt:lpstr>Thread affinity (привязка потока к процессору)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2025-11-07T17:44:49Z</dcterms:created>
  <dcterms:modified xsi:type="dcterms:W3CDTF">2025-11-11T20:07:37Z</dcterms:modified>
</cp:coreProperties>
</file>